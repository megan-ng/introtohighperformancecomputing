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6"/>
  </p:notesMasterIdLst>
  <p:sldIdLst>
    <p:sldId id="318" r:id="rId2"/>
    <p:sldId id="262" r:id="rId3"/>
    <p:sldId id="319" r:id="rId4"/>
    <p:sldId id="325" r:id="rId5"/>
    <p:sldId id="326" r:id="rId6"/>
    <p:sldId id="317" r:id="rId7"/>
    <p:sldId id="277" r:id="rId8"/>
    <p:sldId id="320" r:id="rId9"/>
    <p:sldId id="322" r:id="rId10"/>
    <p:sldId id="332" r:id="rId11"/>
    <p:sldId id="334" r:id="rId12"/>
    <p:sldId id="333" r:id="rId13"/>
    <p:sldId id="321" r:id="rId14"/>
    <p:sldId id="335" r:id="rId15"/>
    <p:sldId id="324" r:id="rId16"/>
    <p:sldId id="327" r:id="rId17"/>
    <p:sldId id="328" r:id="rId18"/>
    <p:sldId id="329" r:id="rId19"/>
    <p:sldId id="336" r:id="rId20"/>
    <p:sldId id="337" r:id="rId21"/>
    <p:sldId id="338" r:id="rId22"/>
    <p:sldId id="330" r:id="rId23"/>
    <p:sldId id="331" r:id="rId24"/>
    <p:sldId id="323" r:id="rId25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4C632D-D3BD-C142-B93F-C90E6BDD7C20}" v="11" dt="2022-05-26T18:32:04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43"/>
    <p:restoredTop sz="83359"/>
  </p:normalViewPr>
  <p:slideViewPr>
    <p:cSldViewPr snapToGrid="0" snapToObjects="1">
      <p:cViewPr varScale="1">
        <p:scale>
          <a:sx n="93" d="100"/>
          <a:sy n="93" d="100"/>
        </p:scale>
        <p:origin x="1968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 McGill initiative on Computational Medicine was formed in 2017 and aims to deliver inter-disciplinary research programs and empower the use of data in health research and health care delivery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Located at the Genome Center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They have a newsletter were you can subscribe 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more info on the web site</a:t>
            </a:r>
          </a:p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00635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66251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9BAEAE-7A20-842B-C249-C9E3E6E364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2840182"/>
            <a:ext cx="8658743" cy="252152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000" b="1" dirty="0"/>
              <a:t>Intro to High-Performance Computing</a:t>
            </a:r>
          </a:p>
          <a:p>
            <a:pPr marL="0" indent="0" algn="ctr">
              <a:buNone/>
            </a:pPr>
            <a:r>
              <a:rPr lang="en-US" sz="2400" dirty="0"/>
              <a:t>Workshop Lead: Megan Ng</a:t>
            </a:r>
          </a:p>
          <a:p>
            <a:pPr marL="0" indent="0" algn="ctr">
              <a:buNone/>
            </a:pPr>
            <a:r>
              <a:rPr lang="en-US" sz="2400" dirty="0"/>
              <a:t>Workshop Facilitator: </a:t>
            </a:r>
          </a:p>
          <a:p>
            <a:pPr marL="0" indent="0" algn="ctr">
              <a:buNone/>
            </a:pPr>
            <a:r>
              <a:rPr lang="en-US" sz="2400" dirty="0"/>
              <a:t>July 28, 2026</a:t>
            </a:r>
          </a:p>
        </p:txBody>
      </p:sp>
    </p:spTree>
    <p:extLst>
      <p:ext uri="{BB962C8B-B14F-4D97-AF65-F5344CB8AC3E}">
        <p14:creationId xmlns:p14="http://schemas.microsoft.com/office/powerpoint/2010/main" val="176775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242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B2EEF-35DC-7AAD-BDF4-F1F66EC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5D692-C8AF-03A3-4884-3B8183D43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 1:</a:t>
            </a:r>
          </a:p>
          <a:p>
            <a:r>
              <a:rPr lang="en-US" dirty="0"/>
              <a:t>Module 2</a:t>
            </a:r>
          </a:p>
          <a:p>
            <a:r>
              <a:rPr lang="en-US" dirty="0"/>
              <a:t>Module 3</a:t>
            </a:r>
          </a:p>
          <a:p>
            <a:r>
              <a:rPr lang="en-US" dirty="0"/>
              <a:t>Module 4</a:t>
            </a:r>
          </a:p>
        </p:txBody>
      </p:sp>
    </p:spTree>
    <p:extLst>
      <p:ext uri="{BB962C8B-B14F-4D97-AF65-F5344CB8AC3E}">
        <p14:creationId xmlns:p14="http://schemas.microsoft.com/office/powerpoint/2010/main" val="27097070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1B5BFE0-1EEE-CDB8-FEA4-11EA4EBA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Pre-requisite Check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BA82CC-18C6-C362-512E-8D58085F27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6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C53E48-DF0A-2B71-D5ED-0E274A097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Pre-requisites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C5D65C-DF83-F4CB-AE4E-290C76CC3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You must have…</a:t>
            </a:r>
          </a:p>
          <a:p>
            <a:r>
              <a:rPr lang="en-US" dirty="0"/>
              <a:t>A Digital Research Alliance of Canada account</a:t>
            </a:r>
          </a:p>
          <a:p>
            <a:r>
              <a:rPr lang="en-US" dirty="0"/>
              <a:t>The Duo Mobile application downloaded on your phone</a:t>
            </a:r>
          </a:p>
          <a:p>
            <a:r>
              <a:rPr lang="en-US" dirty="0"/>
              <a:t>Globus connect personal installed on your laptop</a:t>
            </a:r>
          </a:p>
          <a:p>
            <a:r>
              <a:rPr lang="en-US" dirty="0"/>
              <a:t>A code editor (I will be using VS code)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6968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999070-108E-C245-97F4-DBF8FE0A3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Module I: </a:t>
            </a:r>
            <a:br>
              <a:rPr lang="en-CA" dirty="0"/>
            </a:br>
            <a:r>
              <a:rPr lang="en-CA" dirty="0"/>
              <a:t>About the Digital Research Alliance of Canada (DRAC)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B5ADFF6-C739-BC4D-8406-2A385F59F4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90364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FBC8F67-DB66-369B-8540-936ECF97F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About DRAC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8EA01D-727B-4BF0-5323-9387E65CB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b="1" dirty="0"/>
              <a:t>What is DRAC?</a:t>
            </a:r>
          </a:p>
          <a:p>
            <a:r>
              <a:rPr lang="en-CA" dirty="0"/>
              <a:t>A national not-for-profit membership-based organization that provides digital research infrastructure for researchers in Canada</a:t>
            </a:r>
          </a:p>
          <a:p>
            <a:r>
              <a:rPr lang="en-CA" dirty="0"/>
              <a:t>Infrastructure includes high-performance computing systems, data storage and management platforms, etc.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b="1" dirty="0"/>
              <a:t>Why do researchers use DRAC?</a:t>
            </a:r>
            <a:endParaRPr lang="en-CA" dirty="0"/>
          </a:p>
          <a:p>
            <a:r>
              <a:rPr lang="en-CA" dirty="0"/>
              <a:t>To perform computational tasks efficiently and at scale!</a:t>
            </a:r>
          </a:p>
          <a:p>
            <a:r>
              <a:rPr lang="en-CA" dirty="0"/>
              <a:t>Not all supervisors have $6 000 000 000 to buy a supercomputer for each one of their pupils… </a:t>
            </a:r>
          </a:p>
        </p:txBody>
      </p:sp>
    </p:spTree>
    <p:extLst>
      <p:ext uri="{BB962C8B-B14F-4D97-AF65-F5344CB8AC3E}">
        <p14:creationId xmlns:p14="http://schemas.microsoft.com/office/powerpoint/2010/main" val="3891667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ED20-516C-B4E2-9679-1D2F8E888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Why Do We Need High-Performance Computing Systems?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0B3EF5-3F9C-5559-D852-C7CD3DF5E3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Your Computer</a:t>
            </a:r>
          </a:p>
          <a:p>
            <a:r>
              <a:rPr lang="en-US" dirty="0"/>
              <a:t>One lowly CPU/GPU</a:t>
            </a:r>
          </a:p>
          <a:p>
            <a:r>
              <a:rPr lang="en-US" dirty="0"/>
              <a:t>Little memory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C201221-F9D0-77EE-816A-08CBCD2C12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High-Performance Computing Systems</a:t>
            </a:r>
          </a:p>
          <a:p>
            <a:r>
              <a:rPr lang="en-US" dirty="0"/>
              <a:t>Multiple STRONG CPUs and GPUs</a:t>
            </a:r>
          </a:p>
          <a:p>
            <a:r>
              <a:rPr lang="en-US" dirty="0"/>
              <a:t>Lots of memory</a:t>
            </a:r>
          </a:p>
        </p:txBody>
      </p:sp>
    </p:spTree>
    <p:extLst>
      <p:ext uri="{BB962C8B-B14F-4D97-AF65-F5344CB8AC3E}">
        <p14:creationId xmlns:p14="http://schemas.microsoft.com/office/powerpoint/2010/main" val="1500187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C7FF9A-41FA-F5F4-7265-A0FB79941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Kitchen Analogy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68B195-DAF8-ACD4-9330-A75A694AA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this dumpling recipe that you make very well</a:t>
            </a:r>
          </a:p>
          <a:p>
            <a:r>
              <a:rPr lang="en-US" dirty="0"/>
              <a:t>You gifted a bag of 25 frozen dumplings to your friend for their 25</a:t>
            </a:r>
            <a:r>
              <a:rPr lang="en-US" baseline="30000" dirty="0"/>
              <a:t>th</a:t>
            </a:r>
            <a:r>
              <a:rPr lang="en-US" dirty="0"/>
              <a:t> birthday</a:t>
            </a:r>
          </a:p>
          <a:p>
            <a:r>
              <a:rPr lang="en-US" dirty="0"/>
              <a:t>She loved them and spread the word about your amazing dumplings</a:t>
            </a:r>
          </a:p>
          <a:p>
            <a:r>
              <a:rPr lang="en-US" dirty="0"/>
              <a:t>All of a sudden you have an order for 500 bags of frozen dumplings</a:t>
            </a:r>
          </a:p>
        </p:txBody>
      </p:sp>
    </p:spTree>
    <p:extLst>
      <p:ext uri="{BB962C8B-B14F-4D97-AF65-F5344CB8AC3E}">
        <p14:creationId xmlns:p14="http://schemas.microsoft.com/office/powerpoint/2010/main" val="3932157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67AF6-3CE6-DEF8-A0CE-2B121267B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Kitchen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74E10-3D97-E253-24D0-2657076708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could make them yourself</a:t>
            </a:r>
          </a:p>
          <a:p>
            <a:r>
              <a:rPr lang="en-US" dirty="0"/>
              <a:t>But this would take a lot of time given you are one person and have one small kitchen and freezer</a:t>
            </a:r>
          </a:p>
          <a:p>
            <a:r>
              <a:rPr lang="en-US" dirty="0"/>
              <a:t>Enter this Super Kitchen Service</a:t>
            </a:r>
          </a:p>
          <a:p>
            <a:pPr lvl="1"/>
            <a:r>
              <a:rPr lang="en-US" dirty="0"/>
              <a:t>100’s of Chinese grandmas</a:t>
            </a:r>
          </a:p>
          <a:p>
            <a:pPr lvl="1"/>
            <a:r>
              <a:rPr lang="en-US" dirty="0"/>
              <a:t>Large scale cooking equipment (huge boiling water pots, huge freezer, etc.)</a:t>
            </a:r>
          </a:p>
          <a:p>
            <a:r>
              <a:rPr lang="en-US" dirty="0"/>
              <a:t>Your friend gives you a subscription to this service</a:t>
            </a:r>
          </a:p>
          <a:p>
            <a:r>
              <a:rPr lang="en-US" dirty="0"/>
              <a:t>I am now going to explain how to use this service</a:t>
            </a:r>
          </a:p>
        </p:txBody>
      </p:sp>
    </p:spTree>
    <p:extLst>
      <p:ext uri="{BB962C8B-B14F-4D97-AF65-F5344CB8AC3E}">
        <p14:creationId xmlns:p14="http://schemas.microsoft.com/office/powerpoint/2010/main" val="3806457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46F50-2AC4-49B6-46A9-6E91EF227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Kitchen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E32F2-24FC-8468-2A25-43E573FC1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Super Kitchen Service Rules:</a:t>
            </a:r>
          </a:p>
          <a:p>
            <a:r>
              <a:rPr lang="en-US" dirty="0"/>
              <a:t>You must deliver your ingredients and recipe yourself</a:t>
            </a:r>
          </a:p>
          <a:p>
            <a:r>
              <a:rPr lang="en-US" dirty="0"/>
              <a:t>To schedule a cooking job, you must submit a job to the kitchen manager</a:t>
            </a:r>
          </a:p>
          <a:p>
            <a:r>
              <a:rPr lang="en-US" dirty="0"/>
              <a:t>When the job is finished, you must pick up the final product yourself</a:t>
            </a:r>
          </a:p>
        </p:txBody>
      </p:sp>
    </p:spTree>
    <p:extLst>
      <p:ext uri="{BB962C8B-B14F-4D97-AF65-F5344CB8AC3E}">
        <p14:creationId xmlns:p14="http://schemas.microsoft.com/office/powerpoint/2010/main" val="2035948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B470D-A037-9D2E-1CC3-54C84A67F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Kitchen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1DFEE-0458-732D-FDED-3B9659A07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= </a:t>
            </a:r>
            <a:r>
              <a:rPr lang="en-US" dirty="0">
                <a:sym typeface="Wingdings" pitchFamily="2" charset="2"/>
              </a:rPr>
              <a:t>you</a:t>
            </a:r>
          </a:p>
          <a:p>
            <a:r>
              <a:rPr lang="en-US" dirty="0">
                <a:sym typeface="Wingdings" pitchFamily="2" charset="2"/>
              </a:rPr>
              <a:t>Ingredients = input data</a:t>
            </a:r>
          </a:p>
          <a:p>
            <a:r>
              <a:rPr lang="en-US" dirty="0">
                <a:sym typeface="Wingdings" pitchFamily="2" charset="2"/>
              </a:rPr>
              <a:t>Recipe = code</a:t>
            </a:r>
          </a:p>
          <a:p>
            <a:r>
              <a:rPr lang="en-US" dirty="0">
                <a:sym typeface="Wingdings" pitchFamily="2" charset="2"/>
              </a:rPr>
              <a:t>Super Kitchen Service = Compute Canada</a:t>
            </a:r>
          </a:p>
          <a:p>
            <a:r>
              <a:rPr lang="en-US" dirty="0">
                <a:sym typeface="Wingdings" pitchFamily="2" charset="2"/>
              </a:rPr>
              <a:t>Grandma’s = CPU/GPUs</a:t>
            </a:r>
          </a:p>
          <a:p>
            <a:r>
              <a:rPr lang="en-US" dirty="0">
                <a:sym typeface="Wingdings" pitchFamily="2" charset="2"/>
              </a:rPr>
              <a:t>Kitchen equipment (Huge pot/freezer) = Storage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1862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75B6837-0D09-4C2F-6751-EA3FF04DA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Module II: How to Use DRAC’s High-Performance System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7A3350-5D8A-2BD3-19F4-6C6B37CD86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93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5102D2-5401-8213-69C9-31724E6C9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Preparing your ingredients and recipe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C5763B-4B63-AD40-CDFF-C7E1F499B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 look at today’s example</a:t>
            </a:r>
          </a:p>
          <a:p>
            <a:r>
              <a:rPr lang="en-US" dirty="0"/>
              <a:t>What is the input data?</a:t>
            </a:r>
          </a:p>
          <a:p>
            <a:pPr lvl="1"/>
            <a:r>
              <a:rPr lang="en-US" dirty="0"/>
              <a:t>What are the ingredients?</a:t>
            </a:r>
          </a:p>
          <a:p>
            <a:r>
              <a:rPr lang="en-US" dirty="0"/>
              <a:t>What is the recipe? What is the dish?</a:t>
            </a:r>
          </a:p>
          <a:p>
            <a:pPr lvl="1"/>
            <a:r>
              <a:rPr lang="en-US" dirty="0"/>
              <a:t>What is the code? What does the code produce?</a:t>
            </a:r>
          </a:p>
          <a:p>
            <a:r>
              <a:rPr lang="en-US" dirty="0"/>
              <a:t>Recipe refinement should happen in your own kitchen.</a:t>
            </a:r>
          </a:p>
          <a:p>
            <a:pPr lvl="1"/>
            <a:r>
              <a:rPr lang="en-US" dirty="0"/>
              <a:t>Debugging your code should happen locally.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4293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073FD-BF1D-2827-5289-12FF2D10D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Preparing your job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2DEFF-2A77-B21A-4244-D45F8BD30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must create a formal request to use the Super Kitchen Service </a:t>
            </a:r>
          </a:p>
          <a:p>
            <a:r>
              <a:rPr lang="en-US" dirty="0"/>
              <a:t>This request must contain the following</a:t>
            </a:r>
          </a:p>
          <a:p>
            <a:pPr lvl="1"/>
            <a:r>
              <a:rPr lang="en-US" dirty="0"/>
              <a:t>Proof of subscription </a:t>
            </a:r>
            <a:r>
              <a:rPr lang="en-US" dirty="0">
                <a:sym typeface="Wingdings" pitchFamily="2" charset="2"/>
              </a:rPr>
              <a:t> compute </a:t>
            </a:r>
            <a:r>
              <a:rPr lang="en-US" dirty="0" err="1">
                <a:sym typeface="Wingdings" pitchFamily="2" charset="2"/>
              </a:rPr>
              <a:t>canada</a:t>
            </a:r>
            <a:r>
              <a:rPr lang="en-US" dirty="0">
                <a:sym typeface="Wingdings" pitchFamily="2" charset="2"/>
              </a:rPr>
              <a:t> account</a:t>
            </a:r>
            <a:endParaRPr lang="en-US" dirty="0"/>
          </a:p>
          <a:p>
            <a:pPr lvl="1"/>
            <a:r>
              <a:rPr lang="en-US" dirty="0"/>
              <a:t>Your recipe needs </a:t>
            </a:r>
            <a:r>
              <a:rPr lang="en-US" dirty="0">
                <a:sym typeface="Wingdings" pitchFamily="2" charset="2"/>
              </a:rPr>
              <a:t> </a:t>
            </a:r>
            <a:r>
              <a:rPr lang="en-US" dirty="0"/>
              <a:t>memory, time</a:t>
            </a:r>
          </a:p>
          <a:p>
            <a:pPr lvl="1"/>
            <a:r>
              <a:rPr lang="en-US" dirty="0"/>
              <a:t>Special equipment </a:t>
            </a:r>
            <a:r>
              <a:rPr lang="en-US" dirty="0">
                <a:sym typeface="Wingdings" pitchFamily="2" charset="2"/>
              </a:rPr>
              <a:t> packages, libraries</a:t>
            </a:r>
            <a:endParaRPr lang="en-US" dirty="0"/>
          </a:p>
          <a:p>
            <a:pPr lvl="1"/>
            <a:r>
              <a:rPr lang="en-US" dirty="0"/>
              <a:t>Location of recipe </a:t>
            </a:r>
            <a:r>
              <a:rPr lang="en-US" dirty="0">
                <a:sym typeface="Wingdings" pitchFamily="2" charset="2"/>
              </a:rPr>
              <a:t> path of script to run</a:t>
            </a:r>
          </a:p>
          <a:p>
            <a:pPr lvl="1"/>
            <a:r>
              <a:rPr lang="en-US" dirty="0">
                <a:sym typeface="Wingdings" pitchFamily="2" charset="2"/>
              </a:rPr>
              <a:t>Location of ingredients  path of input data</a:t>
            </a:r>
          </a:p>
          <a:p>
            <a:r>
              <a:rPr lang="en-US" dirty="0">
                <a:sym typeface="Wingdings" pitchFamily="2" charset="2"/>
              </a:rPr>
              <a:t>Optionally</a:t>
            </a:r>
          </a:p>
          <a:p>
            <a:pPr lvl="1"/>
            <a:r>
              <a:rPr lang="en-US" dirty="0">
                <a:sym typeface="Wingdings" pitchFamily="2" charset="2"/>
              </a:rPr>
              <a:t>Notification when done or an error happens</a:t>
            </a:r>
          </a:p>
        </p:txBody>
      </p:sp>
    </p:spTree>
    <p:extLst>
      <p:ext uri="{BB962C8B-B14F-4D97-AF65-F5344CB8AC3E}">
        <p14:creationId xmlns:p14="http://schemas.microsoft.com/office/powerpoint/2010/main" val="2188491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85E56-D531-0482-BD63-E87F833C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Delivering the Ingredients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7F027-58FD-C95C-9339-36290DAD84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must deliver your ingredients, recipe, and job request to the Super Kitchen</a:t>
            </a:r>
          </a:p>
          <a:p>
            <a:pPr lvl="1"/>
            <a:r>
              <a:rPr lang="en-US" dirty="0"/>
              <a:t>You must upload your data to compute </a:t>
            </a:r>
            <a:r>
              <a:rPr lang="en-US" dirty="0" err="1"/>
              <a:t>canada</a:t>
            </a:r>
            <a:endParaRPr lang="en-US" dirty="0"/>
          </a:p>
          <a:p>
            <a:r>
              <a:rPr lang="en-US" dirty="0"/>
              <a:t>There are a few ways</a:t>
            </a:r>
          </a:p>
          <a:p>
            <a:pPr lvl="1"/>
            <a:r>
              <a:rPr lang="en-US" dirty="0" err="1"/>
              <a:t>Rsync</a:t>
            </a:r>
            <a:endParaRPr lang="en-US" dirty="0"/>
          </a:p>
          <a:p>
            <a:pPr lvl="1"/>
            <a:r>
              <a:rPr lang="en-US" dirty="0" err="1"/>
              <a:t>wget</a:t>
            </a:r>
            <a:r>
              <a:rPr lang="en-US" dirty="0"/>
              <a:t> </a:t>
            </a:r>
          </a:p>
          <a:p>
            <a:r>
              <a:rPr lang="en-US" dirty="0"/>
              <a:t>We will use globus connect</a:t>
            </a:r>
          </a:p>
          <a:p>
            <a:r>
              <a:rPr lang="en-US" dirty="0"/>
              <a:t>Describe globus connect</a:t>
            </a:r>
          </a:p>
        </p:txBody>
      </p:sp>
    </p:spTree>
    <p:extLst>
      <p:ext uri="{BB962C8B-B14F-4D97-AF65-F5344CB8AC3E}">
        <p14:creationId xmlns:p14="http://schemas.microsoft.com/office/powerpoint/2010/main" val="3117506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3CC7C-ED86-D258-9C3C-F99E0BFFB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3: Requesting a Job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19F7F-A432-5768-A39F-8768D6C77E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 the kitchen</a:t>
            </a:r>
          </a:p>
          <a:p>
            <a:pPr lvl="1"/>
            <a:r>
              <a:rPr lang="en-US" dirty="0"/>
              <a:t>Log into compute </a:t>
            </a:r>
            <a:r>
              <a:rPr lang="en-US" dirty="0" err="1"/>
              <a:t>canada</a:t>
            </a:r>
            <a:r>
              <a:rPr lang="en-US" dirty="0"/>
              <a:t> with ssh</a:t>
            </a:r>
          </a:p>
          <a:p>
            <a:r>
              <a:rPr lang="en-US" dirty="0"/>
              <a:t>Submit your job to the kitchen manager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sbatch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Describe </a:t>
            </a:r>
            <a:r>
              <a:rPr lang="en-US" dirty="0" err="1"/>
              <a:t>sbatch</a:t>
            </a:r>
            <a:r>
              <a:rPr lang="en-US" dirty="0"/>
              <a:t> command and give example</a:t>
            </a:r>
          </a:p>
          <a:p>
            <a:r>
              <a:rPr lang="en-US" dirty="0"/>
              <a:t>Submit the job </a:t>
            </a:r>
          </a:p>
        </p:txBody>
      </p:sp>
    </p:spTree>
    <p:extLst>
      <p:ext uri="{BB962C8B-B14F-4D97-AF65-F5344CB8AC3E}">
        <p14:creationId xmlns:p14="http://schemas.microsoft.com/office/powerpoint/2010/main" val="13568063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B39A4-08C8-DE49-3654-660ECB5DC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4: Checking on the Status of Your Job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FC23A-3715-E115-61C0-B4A9536F1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Sq command</a:t>
            </a:r>
          </a:p>
          <a:p>
            <a:r>
              <a:rPr lang="en-US" dirty="0"/>
              <a:t>How to interpret output </a:t>
            </a:r>
          </a:p>
        </p:txBody>
      </p:sp>
    </p:spTree>
    <p:extLst>
      <p:ext uri="{BB962C8B-B14F-4D97-AF65-F5344CB8AC3E}">
        <p14:creationId xmlns:p14="http://schemas.microsoft.com/office/powerpoint/2010/main" val="2567812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18327-F62D-DF3C-8F06-4B8EBA1F4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E7263-0EB3-8A13-C2B6-5035562F2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801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27D05-17A7-07FC-895B-24BC2147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errors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40DD6-9F00-B392-7129-38FE25F41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that your code is bug free, there are only a few reasons why your job did not get done</a:t>
            </a:r>
          </a:p>
          <a:p>
            <a:r>
              <a:rPr lang="en-US" dirty="0"/>
              <a:t>The reason will be shown in your output file</a:t>
            </a:r>
          </a:p>
          <a:p>
            <a:r>
              <a:rPr lang="en-US" dirty="0"/>
              <a:t>Introduce the </a:t>
            </a:r>
            <a:r>
              <a:rPr lang="en-US" dirty="0" err="1"/>
              <a:t>slurm</a:t>
            </a:r>
            <a:r>
              <a:rPr lang="en-US" dirty="0"/>
              <a:t> output file</a:t>
            </a:r>
          </a:p>
          <a:p>
            <a:r>
              <a:rPr lang="en-US" dirty="0"/>
              <a:t>Possible messages</a:t>
            </a:r>
          </a:p>
          <a:p>
            <a:pPr lvl="1"/>
            <a:r>
              <a:rPr lang="en-US" dirty="0"/>
              <a:t>Insufficient time or memory </a:t>
            </a:r>
          </a:p>
          <a:p>
            <a:pPr lvl="1"/>
            <a:r>
              <a:rPr lang="en-US" dirty="0"/>
              <a:t>Your path is wrong</a:t>
            </a:r>
          </a:p>
          <a:p>
            <a:pPr lvl="1"/>
            <a:r>
              <a:rPr lang="en-US" dirty="0"/>
              <a:t>You did not provide all the needed libraries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1381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8677C-67B6-707B-1E91-C6D3C129F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Dealing with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404391-DBD6-2774-AC30-F17DC7244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job is submitted but does not start for a long time, there a few possible reasons</a:t>
            </a:r>
          </a:p>
          <a:p>
            <a:pPr lvl="1"/>
            <a:r>
              <a:rPr lang="en-US" dirty="0"/>
              <a:t>Your computational requirements are extremely heavy and there are only a few kitchens that can handle them </a:t>
            </a:r>
            <a:r>
              <a:rPr lang="en-US" dirty="0">
                <a:sym typeface="Wingdings" pitchFamily="2" charset="2"/>
              </a:rPr>
              <a:t> introduce role of kitchen manager </a:t>
            </a:r>
          </a:p>
          <a:p>
            <a:pPr lvl="1"/>
            <a:r>
              <a:rPr lang="en-US" dirty="0">
                <a:sym typeface="Wingdings" pitchFamily="2" charset="2"/>
              </a:rPr>
              <a:t>The whole system is down  introduce status checking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2801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D0158-E49F-5D2D-E3A6-179DC9EDA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5: Retrieving the Completed Dish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914DB-8BA2-8719-2AEE-C65462E4F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Globus </a:t>
            </a:r>
          </a:p>
          <a:p>
            <a:r>
              <a:rPr lang="en-US" dirty="0"/>
              <a:t>Seff</a:t>
            </a:r>
          </a:p>
        </p:txBody>
      </p:sp>
    </p:spTree>
    <p:extLst>
      <p:ext uri="{BB962C8B-B14F-4D97-AF65-F5344CB8AC3E}">
        <p14:creationId xmlns:p14="http://schemas.microsoft.com/office/powerpoint/2010/main" val="21568962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2498E-4151-0BAD-11E2-BADF2F2B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6: Making Changes </a:t>
            </a:r>
            <a:r>
              <a:rPr lang="en-US"/>
              <a:t>to Your Recipe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2FD65-5CA0-7EE4-5564-B7E481F5A6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36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ACE9D-BF9E-95A2-C819-765C1A6A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Folders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32B8-3D35-04C6-73CD-8D4323D1B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Mkdir</a:t>
            </a:r>
            <a:r>
              <a:rPr lang="en-US" dirty="0"/>
              <a:t> </a:t>
            </a:r>
            <a:r>
              <a:rPr lang="en-US" dirty="0" err="1"/>
              <a:t>HPC_Workshop</a:t>
            </a:r>
            <a:endParaRPr lang="en-US" dirty="0"/>
          </a:p>
          <a:p>
            <a:r>
              <a:rPr lang="en-US" dirty="0"/>
              <a:t>Cd </a:t>
            </a:r>
            <a:r>
              <a:rPr lang="en-US" dirty="0" err="1"/>
              <a:t>HPC_Workshop</a:t>
            </a:r>
            <a:endParaRPr lang="en-US" dirty="0"/>
          </a:p>
          <a:p>
            <a:r>
              <a:rPr lang="en-US" dirty="0" err="1"/>
              <a:t>Mkdir</a:t>
            </a:r>
            <a:r>
              <a:rPr lang="en-US" dirty="0"/>
              <a:t> </a:t>
            </a:r>
            <a:r>
              <a:rPr lang="en-US" dirty="0" err="1"/>
              <a:t>JobOutputs</a:t>
            </a:r>
            <a:endParaRPr lang="en-US" dirty="0"/>
          </a:p>
          <a:p>
            <a:r>
              <a:rPr lang="en-US" dirty="0" err="1"/>
              <a:t>Mkdir</a:t>
            </a:r>
            <a:r>
              <a:rPr lang="en-US" dirty="0"/>
              <a:t> Data</a:t>
            </a:r>
          </a:p>
          <a:p>
            <a:r>
              <a:rPr lang="en-US" dirty="0" err="1"/>
              <a:t>Mkdir</a:t>
            </a:r>
            <a:r>
              <a:rPr lang="en-US" dirty="0"/>
              <a:t> Results</a:t>
            </a:r>
          </a:p>
          <a:p>
            <a:r>
              <a:rPr lang="en-US" dirty="0" err="1"/>
              <a:t>Mkdir</a:t>
            </a:r>
            <a:r>
              <a:rPr lang="en-US" dirty="0"/>
              <a:t> </a:t>
            </a:r>
            <a:r>
              <a:rPr lang="en-US"/>
              <a:t>JobScriptPairs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031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8909</TotalTime>
  <Words>812</Words>
  <Application>Microsoft Macintosh PowerPoint</Application>
  <PresentationFormat>On-screen Show (4:3)</PresentationFormat>
  <Paragraphs>127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Open Sans Light</vt:lpstr>
      <vt:lpstr>Wingdings</vt:lpstr>
      <vt:lpstr>Thème Office</vt:lpstr>
      <vt:lpstr>PowerPoint Presentation</vt:lpstr>
      <vt:lpstr>PowerPoint Presentation</vt:lpstr>
      <vt:lpstr>Outline</vt:lpstr>
      <vt:lpstr>Pre-requisite Check</vt:lpstr>
      <vt:lpstr>Pre-requisites</vt:lpstr>
      <vt:lpstr>Module I:  About the Digital Research Alliance of Canada (DRAC)</vt:lpstr>
      <vt:lpstr>About DRAC</vt:lpstr>
      <vt:lpstr>Why Do We Need High-Performance Computing Systems?</vt:lpstr>
      <vt:lpstr>Kitchen Analogy</vt:lpstr>
      <vt:lpstr>Kitchen Analogy</vt:lpstr>
      <vt:lpstr>Kitchen Analogy</vt:lpstr>
      <vt:lpstr>Kitchen Analogy</vt:lpstr>
      <vt:lpstr>Module II: How to Use DRAC’s High-Performance System</vt:lpstr>
      <vt:lpstr>Step 1: Preparing your ingredients and recipe</vt:lpstr>
      <vt:lpstr>Step 2: Preparing your job request</vt:lpstr>
      <vt:lpstr>Step 2: Delivering the Ingredients </vt:lpstr>
      <vt:lpstr>Step 3: Requesting a Job</vt:lpstr>
      <vt:lpstr>Step 4: Checking on the Status of Your Job</vt:lpstr>
      <vt:lpstr>Break</vt:lpstr>
      <vt:lpstr>Dealing with errors </vt:lpstr>
      <vt:lpstr>Dealing with errors</vt:lpstr>
      <vt:lpstr>Step 5: Retrieving the Completed Dish </vt:lpstr>
      <vt:lpstr>Step 6: Making Changes to Your Recipe</vt:lpstr>
      <vt:lpstr>Setting Up Folders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Megan Ng</cp:lastModifiedBy>
  <cp:revision>39</cp:revision>
  <dcterms:created xsi:type="dcterms:W3CDTF">2019-07-29T14:54:16Z</dcterms:created>
  <dcterms:modified xsi:type="dcterms:W3CDTF">2026-07-17T18:10:14Z</dcterms:modified>
</cp:coreProperties>
</file>