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5"/>
  </p:notesMasterIdLst>
  <p:sldIdLst>
    <p:sldId id="318" r:id="rId2"/>
    <p:sldId id="383" r:id="rId3"/>
    <p:sldId id="319" r:id="rId4"/>
    <p:sldId id="326" r:id="rId5"/>
    <p:sldId id="317" r:id="rId6"/>
    <p:sldId id="277" r:id="rId7"/>
    <p:sldId id="339" r:id="rId8"/>
    <p:sldId id="322" r:id="rId9"/>
    <p:sldId id="332" r:id="rId10"/>
    <p:sldId id="334" r:id="rId11"/>
    <p:sldId id="333" r:id="rId12"/>
    <p:sldId id="321" r:id="rId13"/>
    <p:sldId id="385" r:id="rId14"/>
    <p:sldId id="341" r:id="rId15"/>
    <p:sldId id="347" r:id="rId16"/>
    <p:sldId id="384" r:id="rId17"/>
    <p:sldId id="378" r:id="rId18"/>
    <p:sldId id="370" r:id="rId19"/>
    <p:sldId id="372" r:id="rId20"/>
    <p:sldId id="376" r:id="rId21"/>
    <p:sldId id="375" r:id="rId22"/>
    <p:sldId id="374" r:id="rId23"/>
    <p:sldId id="353" r:id="rId24"/>
    <p:sldId id="351" r:id="rId25"/>
    <p:sldId id="355" r:id="rId26"/>
    <p:sldId id="386" r:id="rId27"/>
    <p:sldId id="345" r:id="rId28"/>
    <p:sldId id="389" r:id="rId29"/>
    <p:sldId id="388" r:id="rId30"/>
    <p:sldId id="359" r:id="rId31"/>
    <p:sldId id="369" r:id="rId32"/>
    <p:sldId id="357" r:id="rId33"/>
    <p:sldId id="360" r:id="rId34"/>
    <p:sldId id="362" r:id="rId35"/>
    <p:sldId id="337" r:id="rId36"/>
    <p:sldId id="338" r:id="rId37"/>
    <p:sldId id="363" r:id="rId38"/>
    <p:sldId id="365" r:id="rId39"/>
    <p:sldId id="380" r:id="rId40"/>
    <p:sldId id="379" r:id="rId41"/>
    <p:sldId id="381" r:id="rId42"/>
    <p:sldId id="390" r:id="rId43"/>
    <p:sldId id="382" r:id="rId44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7631"/>
    <a:srgbClr val="426026"/>
    <a:srgbClr val="ED1C24"/>
    <a:srgbClr val="BCE2E6"/>
    <a:srgbClr val="72B0AF"/>
    <a:srgbClr val="69B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355"/>
    <p:restoredTop sz="79765" autoAdjust="0"/>
  </p:normalViewPr>
  <p:slideViewPr>
    <p:cSldViewPr snapToGrid="0" snapToObjects="1">
      <p:cViewPr varScale="1">
        <p:scale>
          <a:sx n="99" d="100"/>
          <a:sy n="99" d="100"/>
        </p:scale>
        <p:origin x="928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80C5A7-1241-4630-87A4-D2AA36CAEFA8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CA"/>
        </a:p>
      </dgm:t>
    </dgm:pt>
    <dgm:pt modelId="{9D687D1B-6594-44D2-B5E9-94F0CE8EADAE}">
      <dgm:prSet phldrT="[Text]"/>
      <dgm:spPr/>
      <dgm:t>
        <a:bodyPr/>
        <a:lstStyle/>
        <a:p>
          <a:pPr>
            <a:buNone/>
          </a:pPr>
          <a:r>
            <a:rPr lang="en-US" b="1" dirty="0"/>
            <a:t>Module I:</a:t>
          </a:r>
        </a:p>
        <a:p>
          <a:pPr>
            <a:buNone/>
          </a:pPr>
          <a:r>
            <a:rPr lang="en-CA" dirty="0"/>
            <a:t>About the Digital Research Alliance of Canada (DRAC)</a:t>
          </a:r>
        </a:p>
      </dgm:t>
    </dgm:pt>
    <dgm:pt modelId="{209DA049-B348-4753-9421-DAEA94CC1461}" type="parTrans" cxnId="{119E9F8E-E8A7-4660-880B-0EAD34218E19}">
      <dgm:prSet/>
      <dgm:spPr/>
      <dgm:t>
        <a:bodyPr/>
        <a:lstStyle/>
        <a:p>
          <a:endParaRPr lang="en-CA"/>
        </a:p>
      </dgm:t>
    </dgm:pt>
    <dgm:pt modelId="{74361ECA-81E9-4B3E-A22C-98E61197A34C}" type="sibTrans" cxnId="{119E9F8E-E8A7-4660-880B-0EAD34218E19}">
      <dgm:prSet/>
      <dgm:spPr/>
      <dgm:t>
        <a:bodyPr/>
        <a:lstStyle/>
        <a:p>
          <a:endParaRPr lang="en-CA"/>
        </a:p>
      </dgm:t>
    </dgm:pt>
    <dgm:pt modelId="{C93BE858-51CA-4FC2-9E70-87C339F4A922}">
      <dgm:prSet phldrT="[Text]"/>
      <dgm:spPr/>
      <dgm:t>
        <a:bodyPr/>
        <a:lstStyle/>
        <a:p>
          <a:pPr>
            <a:buNone/>
          </a:pPr>
          <a:r>
            <a:rPr lang="en-US" b="1" dirty="0"/>
            <a:t>Module II:</a:t>
          </a:r>
        </a:p>
        <a:p>
          <a:pPr>
            <a:buNone/>
          </a:pPr>
          <a:r>
            <a:rPr lang="en-US" dirty="0"/>
            <a:t>Preparing Your Data and Code for DRAC</a:t>
          </a:r>
          <a:endParaRPr lang="en-CA" dirty="0"/>
        </a:p>
      </dgm:t>
    </dgm:pt>
    <dgm:pt modelId="{5A4FFE39-E42D-4C57-8353-72BA94E2A9EA}" type="parTrans" cxnId="{A1292BDA-7795-4993-9C60-3C8E422B4D08}">
      <dgm:prSet/>
      <dgm:spPr/>
      <dgm:t>
        <a:bodyPr/>
        <a:lstStyle/>
        <a:p>
          <a:endParaRPr lang="en-CA"/>
        </a:p>
      </dgm:t>
    </dgm:pt>
    <dgm:pt modelId="{76176C80-A37E-4B6F-8884-BC71469130D8}" type="sibTrans" cxnId="{A1292BDA-7795-4993-9C60-3C8E422B4D08}">
      <dgm:prSet/>
      <dgm:spPr/>
      <dgm:t>
        <a:bodyPr/>
        <a:lstStyle/>
        <a:p>
          <a:endParaRPr lang="en-CA"/>
        </a:p>
      </dgm:t>
    </dgm:pt>
    <dgm:pt modelId="{450FC9BE-B0D5-4C93-AFB2-066B2182D8DE}">
      <dgm:prSet phldrT="[Text]"/>
      <dgm:spPr/>
      <dgm:t>
        <a:bodyPr/>
        <a:lstStyle/>
        <a:p>
          <a:pPr>
            <a:buNone/>
          </a:pPr>
          <a:r>
            <a:rPr lang="en-US" b="1" dirty="0"/>
            <a:t>Module III:</a:t>
          </a:r>
        </a:p>
        <a:p>
          <a:pPr>
            <a:buNone/>
          </a:pPr>
          <a:r>
            <a:rPr lang="en-CA" dirty="0"/>
            <a:t>Running a Job on DRAC</a:t>
          </a:r>
        </a:p>
      </dgm:t>
    </dgm:pt>
    <dgm:pt modelId="{01530FCC-C78F-4C9B-BEFE-89C79E70878D}" type="parTrans" cxnId="{B62081FD-8515-48FC-B175-FE7246F9F72E}">
      <dgm:prSet/>
      <dgm:spPr/>
      <dgm:t>
        <a:bodyPr/>
        <a:lstStyle/>
        <a:p>
          <a:endParaRPr lang="en-CA"/>
        </a:p>
      </dgm:t>
    </dgm:pt>
    <dgm:pt modelId="{BCBA17D1-1F44-4D08-BBBD-4184D6C5B215}" type="sibTrans" cxnId="{B62081FD-8515-48FC-B175-FE7246F9F72E}">
      <dgm:prSet/>
      <dgm:spPr/>
      <dgm:t>
        <a:bodyPr/>
        <a:lstStyle/>
        <a:p>
          <a:endParaRPr lang="en-CA"/>
        </a:p>
      </dgm:t>
    </dgm:pt>
    <dgm:pt modelId="{3626269C-5CB8-4D08-9EC1-120B990429C1}">
      <dgm:prSet phldrT="[Text]"/>
      <dgm:spPr/>
      <dgm:t>
        <a:bodyPr/>
        <a:lstStyle/>
        <a:p>
          <a:pPr>
            <a:buNone/>
          </a:pPr>
          <a:r>
            <a:rPr lang="en-US" b="1" dirty="0"/>
            <a:t>Module IV:</a:t>
          </a:r>
        </a:p>
        <a:p>
          <a:pPr>
            <a:buNone/>
          </a:pPr>
          <a:r>
            <a:rPr lang="en-CA" dirty="0"/>
            <a:t>Handling Job Errors</a:t>
          </a:r>
        </a:p>
      </dgm:t>
    </dgm:pt>
    <dgm:pt modelId="{AA7A570E-F06F-49A3-BE99-59946F1A7DF5}" type="parTrans" cxnId="{38CE2F51-DDDF-417A-ADE2-30B96151BF2F}">
      <dgm:prSet/>
      <dgm:spPr/>
      <dgm:t>
        <a:bodyPr/>
        <a:lstStyle/>
        <a:p>
          <a:endParaRPr lang="en-CA"/>
        </a:p>
      </dgm:t>
    </dgm:pt>
    <dgm:pt modelId="{D40AC130-62BA-4D91-9F73-DD83049F4318}" type="sibTrans" cxnId="{38CE2F51-DDDF-417A-ADE2-30B96151BF2F}">
      <dgm:prSet/>
      <dgm:spPr/>
      <dgm:t>
        <a:bodyPr/>
        <a:lstStyle/>
        <a:p>
          <a:endParaRPr lang="en-CA"/>
        </a:p>
      </dgm:t>
    </dgm:pt>
    <dgm:pt modelId="{E58A1AB4-5D5A-4999-B220-25F1FDD2AE67}" type="pres">
      <dgm:prSet presAssocID="{8880C5A7-1241-4630-87A4-D2AA36CAEFA8}" presName="CompostProcess" presStyleCnt="0">
        <dgm:presLayoutVars>
          <dgm:dir/>
          <dgm:resizeHandles val="exact"/>
        </dgm:presLayoutVars>
      </dgm:prSet>
      <dgm:spPr/>
    </dgm:pt>
    <dgm:pt modelId="{A51C46FE-3782-49F3-B990-1FCD0C5741BA}" type="pres">
      <dgm:prSet presAssocID="{8880C5A7-1241-4630-87A4-D2AA36CAEFA8}" presName="arrow" presStyleLbl="bgShp" presStyleIdx="0" presStyleCnt="1"/>
      <dgm:spPr/>
    </dgm:pt>
    <dgm:pt modelId="{0BEB5DBC-48D9-4310-B2C6-AA60D292DBA6}" type="pres">
      <dgm:prSet presAssocID="{8880C5A7-1241-4630-87A4-D2AA36CAEFA8}" presName="linearProcess" presStyleCnt="0"/>
      <dgm:spPr/>
    </dgm:pt>
    <dgm:pt modelId="{3B95E8CE-953C-478F-B177-EC03DC99E31F}" type="pres">
      <dgm:prSet presAssocID="{9D687D1B-6594-44D2-B5E9-94F0CE8EADAE}" presName="textNode" presStyleLbl="node1" presStyleIdx="0" presStyleCnt="4">
        <dgm:presLayoutVars>
          <dgm:bulletEnabled val="1"/>
        </dgm:presLayoutVars>
      </dgm:prSet>
      <dgm:spPr/>
    </dgm:pt>
    <dgm:pt modelId="{C61827FD-EF9B-4210-AA52-69AABC1A90E5}" type="pres">
      <dgm:prSet presAssocID="{74361ECA-81E9-4B3E-A22C-98E61197A34C}" presName="sibTrans" presStyleCnt="0"/>
      <dgm:spPr/>
    </dgm:pt>
    <dgm:pt modelId="{8387A4EB-6E23-49A2-A9FB-2821FDEE4ED3}" type="pres">
      <dgm:prSet presAssocID="{C93BE858-51CA-4FC2-9E70-87C339F4A922}" presName="textNode" presStyleLbl="node1" presStyleIdx="1" presStyleCnt="4">
        <dgm:presLayoutVars>
          <dgm:bulletEnabled val="1"/>
        </dgm:presLayoutVars>
      </dgm:prSet>
      <dgm:spPr/>
    </dgm:pt>
    <dgm:pt modelId="{1F9EFF1D-AE08-4F19-8BC0-9548F0168195}" type="pres">
      <dgm:prSet presAssocID="{76176C80-A37E-4B6F-8884-BC71469130D8}" presName="sibTrans" presStyleCnt="0"/>
      <dgm:spPr/>
    </dgm:pt>
    <dgm:pt modelId="{0CCD42B8-A6C8-4974-8CC4-BD5F1A2F99A5}" type="pres">
      <dgm:prSet presAssocID="{450FC9BE-B0D5-4C93-AFB2-066B2182D8DE}" presName="textNode" presStyleLbl="node1" presStyleIdx="2" presStyleCnt="4">
        <dgm:presLayoutVars>
          <dgm:bulletEnabled val="1"/>
        </dgm:presLayoutVars>
      </dgm:prSet>
      <dgm:spPr/>
    </dgm:pt>
    <dgm:pt modelId="{5127A64E-E019-4377-AAB6-F4CF9116654B}" type="pres">
      <dgm:prSet presAssocID="{BCBA17D1-1F44-4D08-BBBD-4184D6C5B215}" presName="sibTrans" presStyleCnt="0"/>
      <dgm:spPr/>
    </dgm:pt>
    <dgm:pt modelId="{AD3056CB-8EE3-4EB7-890C-003364A20F64}" type="pres">
      <dgm:prSet presAssocID="{3626269C-5CB8-4D08-9EC1-120B990429C1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4A62F503-4474-4746-8F98-CE7DD0DA716E}" type="presOf" srcId="{8880C5A7-1241-4630-87A4-D2AA36CAEFA8}" destId="{E58A1AB4-5D5A-4999-B220-25F1FDD2AE67}" srcOrd="0" destOrd="0" presId="urn:microsoft.com/office/officeart/2005/8/layout/hProcess9"/>
    <dgm:cxn modelId="{81687114-60BF-4B69-BE98-2111FB176831}" type="presOf" srcId="{9D687D1B-6594-44D2-B5E9-94F0CE8EADAE}" destId="{3B95E8CE-953C-478F-B177-EC03DC99E31F}" srcOrd="0" destOrd="0" presId="urn:microsoft.com/office/officeart/2005/8/layout/hProcess9"/>
    <dgm:cxn modelId="{9282D72B-9EEB-4470-A9F2-D1E45D03CF5A}" type="presOf" srcId="{3626269C-5CB8-4D08-9EC1-120B990429C1}" destId="{AD3056CB-8EE3-4EB7-890C-003364A20F64}" srcOrd="0" destOrd="0" presId="urn:microsoft.com/office/officeart/2005/8/layout/hProcess9"/>
    <dgm:cxn modelId="{38CE2F51-DDDF-417A-ADE2-30B96151BF2F}" srcId="{8880C5A7-1241-4630-87A4-D2AA36CAEFA8}" destId="{3626269C-5CB8-4D08-9EC1-120B990429C1}" srcOrd="3" destOrd="0" parTransId="{AA7A570E-F06F-49A3-BE99-59946F1A7DF5}" sibTransId="{D40AC130-62BA-4D91-9F73-DD83049F4318}"/>
    <dgm:cxn modelId="{119E9F8E-E8A7-4660-880B-0EAD34218E19}" srcId="{8880C5A7-1241-4630-87A4-D2AA36CAEFA8}" destId="{9D687D1B-6594-44D2-B5E9-94F0CE8EADAE}" srcOrd="0" destOrd="0" parTransId="{209DA049-B348-4753-9421-DAEA94CC1461}" sibTransId="{74361ECA-81E9-4B3E-A22C-98E61197A34C}"/>
    <dgm:cxn modelId="{A1292BDA-7795-4993-9C60-3C8E422B4D08}" srcId="{8880C5A7-1241-4630-87A4-D2AA36CAEFA8}" destId="{C93BE858-51CA-4FC2-9E70-87C339F4A922}" srcOrd="1" destOrd="0" parTransId="{5A4FFE39-E42D-4C57-8353-72BA94E2A9EA}" sibTransId="{76176C80-A37E-4B6F-8884-BC71469130D8}"/>
    <dgm:cxn modelId="{F3B206F8-EC2C-4AF0-9EC7-F46D6A14994C}" type="presOf" srcId="{450FC9BE-B0D5-4C93-AFB2-066B2182D8DE}" destId="{0CCD42B8-A6C8-4974-8CC4-BD5F1A2F99A5}" srcOrd="0" destOrd="0" presId="urn:microsoft.com/office/officeart/2005/8/layout/hProcess9"/>
    <dgm:cxn modelId="{E96F8BFC-070A-4511-92C4-5904B329F512}" type="presOf" srcId="{C93BE858-51CA-4FC2-9E70-87C339F4A922}" destId="{8387A4EB-6E23-49A2-A9FB-2821FDEE4ED3}" srcOrd="0" destOrd="0" presId="urn:microsoft.com/office/officeart/2005/8/layout/hProcess9"/>
    <dgm:cxn modelId="{B62081FD-8515-48FC-B175-FE7246F9F72E}" srcId="{8880C5A7-1241-4630-87A4-D2AA36CAEFA8}" destId="{450FC9BE-B0D5-4C93-AFB2-066B2182D8DE}" srcOrd="2" destOrd="0" parTransId="{01530FCC-C78F-4C9B-BEFE-89C79E70878D}" sibTransId="{BCBA17D1-1F44-4D08-BBBD-4184D6C5B215}"/>
    <dgm:cxn modelId="{10CECDEE-926F-4D82-8B59-FA62A09441B3}" type="presParOf" srcId="{E58A1AB4-5D5A-4999-B220-25F1FDD2AE67}" destId="{A51C46FE-3782-49F3-B990-1FCD0C5741BA}" srcOrd="0" destOrd="0" presId="urn:microsoft.com/office/officeart/2005/8/layout/hProcess9"/>
    <dgm:cxn modelId="{2FD9A1AF-8FC4-47AC-905A-AA80C9A7055E}" type="presParOf" srcId="{E58A1AB4-5D5A-4999-B220-25F1FDD2AE67}" destId="{0BEB5DBC-48D9-4310-B2C6-AA60D292DBA6}" srcOrd="1" destOrd="0" presId="urn:microsoft.com/office/officeart/2005/8/layout/hProcess9"/>
    <dgm:cxn modelId="{33AA5595-7F36-444C-911F-E074D5F1FC77}" type="presParOf" srcId="{0BEB5DBC-48D9-4310-B2C6-AA60D292DBA6}" destId="{3B95E8CE-953C-478F-B177-EC03DC99E31F}" srcOrd="0" destOrd="0" presId="urn:microsoft.com/office/officeart/2005/8/layout/hProcess9"/>
    <dgm:cxn modelId="{E39DA4DD-7FFE-4799-AB32-8CCDD12BF2FA}" type="presParOf" srcId="{0BEB5DBC-48D9-4310-B2C6-AA60D292DBA6}" destId="{C61827FD-EF9B-4210-AA52-69AABC1A90E5}" srcOrd="1" destOrd="0" presId="urn:microsoft.com/office/officeart/2005/8/layout/hProcess9"/>
    <dgm:cxn modelId="{11640759-8402-4594-AC6A-7FFA46FD5A02}" type="presParOf" srcId="{0BEB5DBC-48D9-4310-B2C6-AA60D292DBA6}" destId="{8387A4EB-6E23-49A2-A9FB-2821FDEE4ED3}" srcOrd="2" destOrd="0" presId="urn:microsoft.com/office/officeart/2005/8/layout/hProcess9"/>
    <dgm:cxn modelId="{EBB798FC-4404-4525-AC0A-97789C59116C}" type="presParOf" srcId="{0BEB5DBC-48D9-4310-B2C6-AA60D292DBA6}" destId="{1F9EFF1D-AE08-4F19-8BC0-9548F0168195}" srcOrd="3" destOrd="0" presId="urn:microsoft.com/office/officeart/2005/8/layout/hProcess9"/>
    <dgm:cxn modelId="{38A1055E-A576-4C9F-9397-435133A78EB1}" type="presParOf" srcId="{0BEB5DBC-48D9-4310-B2C6-AA60D292DBA6}" destId="{0CCD42B8-A6C8-4974-8CC4-BD5F1A2F99A5}" srcOrd="4" destOrd="0" presId="urn:microsoft.com/office/officeart/2005/8/layout/hProcess9"/>
    <dgm:cxn modelId="{217397EE-D5AA-4F34-B1FB-B823EC446898}" type="presParOf" srcId="{0BEB5DBC-48D9-4310-B2C6-AA60D292DBA6}" destId="{5127A64E-E019-4377-AAB6-F4CF9116654B}" srcOrd="5" destOrd="0" presId="urn:microsoft.com/office/officeart/2005/8/layout/hProcess9"/>
    <dgm:cxn modelId="{88239CAC-79CB-41D6-817B-C2FC95C04E38}" type="presParOf" srcId="{0BEB5DBC-48D9-4310-B2C6-AA60D292DBA6}" destId="{AD3056CB-8EE3-4EB7-890C-003364A20F64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80C5A7-1241-4630-87A4-D2AA36CAEFA8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CA"/>
        </a:p>
      </dgm:t>
    </dgm:pt>
    <dgm:pt modelId="{9D687D1B-6594-44D2-B5E9-94F0CE8EADAE}">
      <dgm:prSet phldrT="[Text]" custT="1"/>
      <dgm:spPr/>
      <dgm:t>
        <a:bodyPr/>
        <a:lstStyle/>
        <a:p>
          <a:pPr>
            <a:buNone/>
          </a:pPr>
          <a:r>
            <a:rPr lang="en-US" sz="1600" b="1" dirty="0"/>
            <a:t>Module I:</a:t>
          </a:r>
          <a:endParaRPr lang="en-CA" sz="1600" dirty="0"/>
        </a:p>
      </dgm:t>
    </dgm:pt>
    <dgm:pt modelId="{209DA049-B348-4753-9421-DAEA94CC1461}" type="parTrans" cxnId="{119E9F8E-E8A7-4660-880B-0EAD34218E19}">
      <dgm:prSet/>
      <dgm:spPr/>
      <dgm:t>
        <a:bodyPr/>
        <a:lstStyle/>
        <a:p>
          <a:endParaRPr lang="en-CA"/>
        </a:p>
      </dgm:t>
    </dgm:pt>
    <dgm:pt modelId="{74361ECA-81E9-4B3E-A22C-98E61197A34C}" type="sibTrans" cxnId="{119E9F8E-E8A7-4660-880B-0EAD34218E19}">
      <dgm:prSet/>
      <dgm:spPr/>
      <dgm:t>
        <a:bodyPr/>
        <a:lstStyle/>
        <a:p>
          <a:endParaRPr lang="en-CA"/>
        </a:p>
      </dgm:t>
    </dgm:pt>
    <dgm:pt modelId="{C93BE858-51CA-4FC2-9E70-87C339F4A922}">
      <dgm:prSet phldrT="[Text]" custT="1"/>
      <dgm:spPr/>
      <dgm:t>
        <a:bodyPr/>
        <a:lstStyle/>
        <a:p>
          <a:pPr>
            <a:buNone/>
          </a:pPr>
          <a:r>
            <a:rPr lang="en-US" sz="1600" b="1" dirty="0"/>
            <a:t>Module II:</a:t>
          </a:r>
          <a:endParaRPr lang="en-CA" sz="1600" dirty="0"/>
        </a:p>
      </dgm:t>
    </dgm:pt>
    <dgm:pt modelId="{5A4FFE39-E42D-4C57-8353-72BA94E2A9EA}" type="parTrans" cxnId="{A1292BDA-7795-4993-9C60-3C8E422B4D08}">
      <dgm:prSet/>
      <dgm:spPr/>
      <dgm:t>
        <a:bodyPr/>
        <a:lstStyle/>
        <a:p>
          <a:endParaRPr lang="en-CA"/>
        </a:p>
      </dgm:t>
    </dgm:pt>
    <dgm:pt modelId="{76176C80-A37E-4B6F-8884-BC71469130D8}" type="sibTrans" cxnId="{A1292BDA-7795-4993-9C60-3C8E422B4D08}">
      <dgm:prSet/>
      <dgm:spPr/>
      <dgm:t>
        <a:bodyPr/>
        <a:lstStyle/>
        <a:p>
          <a:endParaRPr lang="en-CA"/>
        </a:p>
      </dgm:t>
    </dgm:pt>
    <dgm:pt modelId="{450FC9BE-B0D5-4C93-AFB2-066B2182D8DE}">
      <dgm:prSet phldrT="[Text]" custT="1"/>
      <dgm:spPr/>
      <dgm:t>
        <a:bodyPr/>
        <a:lstStyle/>
        <a:p>
          <a:pPr>
            <a:buNone/>
          </a:pPr>
          <a:r>
            <a:rPr lang="en-US" sz="1600" b="1" dirty="0"/>
            <a:t>Module III:</a:t>
          </a:r>
          <a:endParaRPr lang="en-CA" sz="1600" dirty="0"/>
        </a:p>
      </dgm:t>
    </dgm:pt>
    <dgm:pt modelId="{01530FCC-C78F-4C9B-BEFE-89C79E70878D}" type="parTrans" cxnId="{B62081FD-8515-48FC-B175-FE7246F9F72E}">
      <dgm:prSet/>
      <dgm:spPr/>
      <dgm:t>
        <a:bodyPr/>
        <a:lstStyle/>
        <a:p>
          <a:endParaRPr lang="en-CA"/>
        </a:p>
      </dgm:t>
    </dgm:pt>
    <dgm:pt modelId="{BCBA17D1-1F44-4D08-BBBD-4184D6C5B215}" type="sibTrans" cxnId="{B62081FD-8515-48FC-B175-FE7246F9F72E}">
      <dgm:prSet/>
      <dgm:spPr/>
      <dgm:t>
        <a:bodyPr/>
        <a:lstStyle/>
        <a:p>
          <a:endParaRPr lang="en-CA"/>
        </a:p>
      </dgm:t>
    </dgm:pt>
    <dgm:pt modelId="{3626269C-5CB8-4D08-9EC1-120B990429C1}">
      <dgm:prSet phldrT="[Text]" custT="1"/>
      <dgm:spPr/>
      <dgm:t>
        <a:bodyPr/>
        <a:lstStyle/>
        <a:p>
          <a:pPr>
            <a:buNone/>
          </a:pPr>
          <a:r>
            <a:rPr lang="en-US" sz="1600" b="1" dirty="0"/>
            <a:t>Module IV:</a:t>
          </a:r>
          <a:endParaRPr lang="en-CA" sz="1600" dirty="0"/>
        </a:p>
      </dgm:t>
    </dgm:pt>
    <dgm:pt modelId="{AA7A570E-F06F-49A3-BE99-59946F1A7DF5}" type="parTrans" cxnId="{38CE2F51-DDDF-417A-ADE2-30B96151BF2F}">
      <dgm:prSet/>
      <dgm:spPr/>
      <dgm:t>
        <a:bodyPr/>
        <a:lstStyle/>
        <a:p>
          <a:endParaRPr lang="en-CA"/>
        </a:p>
      </dgm:t>
    </dgm:pt>
    <dgm:pt modelId="{D40AC130-62BA-4D91-9F73-DD83049F4318}" type="sibTrans" cxnId="{38CE2F51-DDDF-417A-ADE2-30B96151BF2F}">
      <dgm:prSet/>
      <dgm:spPr/>
      <dgm:t>
        <a:bodyPr/>
        <a:lstStyle/>
        <a:p>
          <a:endParaRPr lang="en-CA"/>
        </a:p>
      </dgm:t>
    </dgm:pt>
    <dgm:pt modelId="{8D5C22A6-1D09-4E52-846B-A89E3C48B368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600" dirty="0"/>
            <a:t>What is DRAC and the services they provide</a:t>
          </a:r>
        </a:p>
      </dgm:t>
    </dgm:pt>
    <dgm:pt modelId="{56216A02-B7B2-4C45-B930-5B487FEFFD78}" type="parTrans" cxnId="{D0075684-9812-4034-918C-AD0E25131078}">
      <dgm:prSet/>
      <dgm:spPr/>
      <dgm:t>
        <a:bodyPr/>
        <a:lstStyle/>
        <a:p>
          <a:endParaRPr lang="en-CA"/>
        </a:p>
      </dgm:t>
    </dgm:pt>
    <dgm:pt modelId="{45B045FC-0FDD-4D25-92EA-F9DC9E519284}" type="sibTrans" cxnId="{D0075684-9812-4034-918C-AD0E25131078}">
      <dgm:prSet/>
      <dgm:spPr/>
      <dgm:t>
        <a:bodyPr/>
        <a:lstStyle/>
        <a:p>
          <a:endParaRPr lang="en-CA"/>
        </a:p>
      </dgm:t>
    </dgm:pt>
    <dgm:pt modelId="{38BC3353-CA2D-4F63-B6A0-421A2782B3FD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600" dirty="0"/>
            <a:t>The conceptual workflow of interacting with DRAC</a:t>
          </a:r>
        </a:p>
      </dgm:t>
    </dgm:pt>
    <dgm:pt modelId="{E0DEAC47-8600-49C4-B6C7-99916A665CEB}" type="parTrans" cxnId="{72C89BE1-BCA2-448A-A89A-2F72C7A95D1A}">
      <dgm:prSet/>
      <dgm:spPr/>
      <dgm:t>
        <a:bodyPr/>
        <a:lstStyle/>
        <a:p>
          <a:endParaRPr lang="en-CA"/>
        </a:p>
      </dgm:t>
    </dgm:pt>
    <dgm:pt modelId="{750CB0FD-428E-4C12-B84F-73837B42E90C}" type="sibTrans" cxnId="{72C89BE1-BCA2-448A-A89A-2F72C7A95D1A}">
      <dgm:prSet/>
      <dgm:spPr/>
      <dgm:t>
        <a:bodyPr/>
        <a:lstStyle/>
        <a:p>
          <a:endParaRPr lang="en-CA"/>
        </a:p>
      </dgm:t>
    </dgm:pt>
    <dgm:pt modelId="{859DEB47-C8BE-4A3D-9027-81897ABA9EA6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600" dirty="0"/>
            <a:t>How to upload files from your local computer to DRAC</a:t>
          </a:r>
        </a:p>
      </dgm:t>
    </dgm:pt>
    <dgm:pt modelId="{53BC773B-1832-4127-A2A0-F0CAC73442E9}" type="parTrans" cxnId="{9D4494EE-C51D-4679-B280-4E32D4C1BAEF}">
      <dgm:prSet/>
      <dgm:spPr/>
      <dgm:t>
        <a:bodyPr/>
        <a:lstStyle/>
        <a:p>
          <a:endParaRPr lang="en-CA"/>
        </a:p>
      </dgm:t>
    </dgm:pt>
    <dgm:pt modelId="{6D42ABC9-B6A8-4F80-9A8D-5E5C3BF5911E}" type="sibTrans" cxnId="{9D4494EE-C51D-4679-B280-4E32D4C1BAEF}">
      <dgm:prSet/>
      <dgm:spPr/>
      <dgm:t>
        <a:bodyPr/>
        <a:lstStyle/>
        <a:p>
          <a:endParaRPr lang="en-CA"/>
        </a:p>
      </dgm:t>
    </dgm:pt>
    <dgm:pt modelId="{DD8F5160-522F-4BD8-BD68-486A796A2436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600" dirty="0"/>
            <a:t>How to download files from DRAC to your local computer</a:t>
          </a:r>
        </a:p>
      </dgm:t>
    </dgm:pt>
    <dgm:pt modelId="{C222317A-8EBA-4B4D-BC2E-B9148300E621}" type="parTrans" cxnId="{147763E7-CFB6-48DD-A697-7999C0F3ABAD}">
      <dgm:prSet/>
      <dgm:spPr/>
      <dgm:t>
        <a:bodyPr/>
        <a:lstStyle/>
        <a:p>
          <a:endParaRPr lang="en-CA"/>
        </a:p>
      </dgm:t>
    </dgm:pt>
    <dgm:pt modelId="{AFC290C2-4A83-4DE8-84D9-28420DC53BFC}" type="sibTrans" cxnId="{147763E7-CFB6-48DD-A697-7999C0F3ABAD}">
      <dgm:prSet/>
      <dgm:spPr/>
      <dgm:t>
        <a:bodyPr/>
        <a:lstStyle/>
        <a:p>
          <a:endParaRPr lang="en-CA"/>
        </a:p>
      </dgm:t>
    </dgm:pt>
    <dgm:pt modelId="{4898DCA4-5601-4A32-947B-8BC5C19DFA2C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600" dirty="0"/>
            <a:t>How to run your code using DRAC’s high-performance computing system</a:t>
          </a:r>
        </a:p>
      </dgm:t>
    </dgm:pt>
    <dgm:pt modelId="{4B0BE96D-1E33-4CBC-9849-11A315CD2C32}" type="parTrans" cxnId="{A9164E1E-5F17-4E84-BA56-AC412804589B}">
      <dgm:prSet/>
      <dgm:spPr/>
      <dgm:t>
        <a:bodyPr/>
        <a:lstStyle/>
        <a:p>
          <a:endParaRPr lang="en-CA"/>
        </a:p>
      </dgm:t>
    </dgm:pt>
    <dgm:pt modelId="{ACE74549-B2B0-4B98-8B92-436FBB8D8279}" type="sibTrans" cxnId="{A9164E1E-5F17-4E84-BA56-AC412804589B}">
      <dgm:prSet/>
      <dgm:spPr/>
      <dgm:t>
        <a:bodyPr/>
        <a:lstStyle/>
        <a:p>
          <a:endParaRPr lang="en-CA"/>
        </a:p>
      </dgm:t>
    </dgm:pt>
    <dgm:pt modelId="{DE569046-8D53-4384-977E-ED42B21946E3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600" dirty="0"/>
            <a:t>How to monitor the status of your job</a:t>
          </a:r>
        </a:p>
      </dgm:t>
    </dgm:pt>
    <dgm:pt modelId="{FBA1ABA2-E06E-4C14-85AF-6CEE1875EB4C}" type="parTrans" cxnId="{4A6F35DB-1B8A-4928-982E-C783A487CDFE}">
      <dgm:prSet/>
      <dgm:spPr/>
      <dgm:t>
        <a:bodyPr/>
        <a:lstStyle/>
        <a:p>
          <a:endParaRPr lang="en-CA"/>
        </a:p>
      </dgm:t>
    </dgm:pt>
    <dgm:pt modelId="{E21D9061-67DD-4DF8-9579-982D69FA0AE1}" type="sibTrans" cxnId="{4A6F35DB-1B8A-4928-982E-C783A487CDFE}">
      <dgm:prSet/>
      <dgm:spPr/>
      <dgm:t>
        <a:bodyPr/>
        <a:lstStyle/>
        <a:p>
          <a:endParaRPr lang="en-CA"/>
        </a:p>
      </dgm:t>
    </dgm:pt>
    <dgm:pt modelId="{2655E64F-28B1-48CB-8A4C-2BEC153C3BC6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600" dirty="0"/>
            <a:t>How to identify and address common errors</a:t>
          </a:r>
        </a:p>
      </dgm:t>
    </dgm:pt>
    <dgm:pt modelId="{29709780-AB5F-4C19-8180-D336E9E8A229}" type="parTrans" cxnId="{676A1EFF-B8A1-4025-8F5E-29071314397B}">
      <dgm:prSet/>
      <dgm:spPr/>
      <dgm:t>
        <a:bodyPr/>
        <a:lstStyle/>
        <a:p>
          <a:endParaRPr lang="en-CA"/>
        </a:p>
      </dgm:t>
    </dgm:pt>
    <dgm:pt modelId="{6E380F26-04DD-4E9C-964A-58F943F722CB}" type="sibTrans" cxnId="{676A1EFF-B8A1-4025-8F5E-29071314397B}">
      <dgm:prSet/>
      <dgm:spPr/>
      <dgm:t>
        <a:bodyPr/>
        <a:lstStyle/>
        <a:p>
          <a:endParaRPr lang="en-CA"/>
        </a:p>
      </dgm:t>
    </dgm:pt>
    <dgm:pt modelId="{B9324CE4-9D16-4F49-9CEB-BB8F8D4CE090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 sz="1600" dirty="0"/>
            <a:t>How to get external technical help when needed</a:t>
          </a:r>
        </a:p>
      </dgm:t>
    </dgm:pt>
    <dgm:pt modelId="{177B840A-AFAC-44F3-B7DF-01DA720E9E97}" type="parTrans" cxnId="{2B243224-9D1B-431B-A4CF-A4989576370D}">
      <dgm:prSet/>
      <dgm:spPr/>
      <dgm:t>
        <a:bodyPr/>
        <a:lstStyle/>
        <a:p>
          <a:endParaRPr lang="en-CA"/>
        </a:p>
      </dgm:t>
    </dgm:pt>
    <dgm:pt modelId="{9BBB8188-A279-4052-91E4-7675BFC8176A}" type="sibTrans" cxnId="{2B243224-9D1B-431B-A4CF-A4989576370D}">
      <dgm:prSet/>
      <dgm:spPr/>
      <dgm:t>
        <a:bodyPr/>
        <a:lstStyle/>
        <a:p>
          <a:endParaRPr lang="en-CA"/>
        </a:p>
      </dgm:t>
    </dgm:pt>
    <dgm:pt modelId="{E58A1AB4-5D5A-4999-B220-25F1FDD2AE67}" type="pres">
      <dgm:prSet presAssocID="{8880C5A7-1241-4630-87A4-D2AA36CAEFA8}" presName="CompostProcess" presStyleCnt="0">
        <dgm:presLayoutVars>
          <dgm:dir/>
          <dgm:resizeHandles val="exact"/>
        </dgm:presLayoutVars>
      </dgm:prSet>
      <dgm:spPr/>
    </dgm:pt>
    <dgm:pt modelId="{A51C46FE-3782-49F3-B990-1FCD0C5741BA}" type="pres">
      <dgm:prSet presAssocID="{8880C5A7-1241-4630-87A4-D2AA36CAEFA8}" presName="arrow" presStyleLbl="bgShp" presStyleIdx="0" presStyleCnt="1" custScaleX="109128"/>
      <dgm:spPr/>
    </dgm:pt>
    <dgm:pt modelId="{0BEB5DBC-48D9-4310-B2C6-AA60D292DBA6}" type="pres">
      <dgm:prSet presAssocID="{8880C5A7-1241-4630-87A4-D2AA36CAEFA8}" presName="linearProcess" presStyleCnt="0"/>
      <dgm:spPr/>
    </dgm:pt>
    <dgm:pt modelId="{3B95E8CE-953C-478F-B177-EC03DC99E31F}" type="pres">
      <dgm:prSet presAssocID="{9D687D1B-6594-44D2-B5E9-94F0CE8EADAE}" presName="textNode" presStyleLbl="node1" presStyleIdx="0" presStyleCnt="4" custScaleY="172919">
        <dgm:presLayoutVars>
          <dgm:bulletEnabled val="1"/>
        </dgm:presLayoutVars>
      </dgm:prSet>
      <dgm:spPr/>
    </dgm:pt>
    <dgm:pt modelId="{C61827FD-EF9B-4210-AA52-69AABC1A90E5}" type="pres">
      <dgm:prSet presAssocID="{74361ECA-81E9-4B3E-A22C-98E61197A34C}" presName="sibTrans" presStyleCnt="0"/>
      <dgm:spPr/>
    </dgm:pt>
    <dgm:pt modelId="{E1B00825-F3BD-412F-9013-5CD79E82905E}" type="pres">
      <dgm:prSet presAssocID="{C93BE858-51CA-4FC2-9E70-87C339F4A922}" presName="textNode" presStyleLbl="node1" presStyleIdx="1" presStyleCnt="4" custScaleY="170801">
        <dgm:presLayoutVars>
          <dgm:bulletEnabled val="1"/>
        </dgm:presLayoutVars>
      </dgm:prSet>
      <dgm:spPr/>
    </dgm:pt>
    <dgm:pt modelId="{CC3E3199-A3B5-4246-BD12-6ABCBCF0389F}" type="pres">
      <dgm:prSet presAssocID="{76176C80-A37E-4B6F-8884-BC71469130D8}" presName="sibTrans" presStyleCnt="0"/>
      <dgm:spPr/>
    </dgm:pt>
    <dgm:pt modelId="{0CCD42B8-A6C8-4974-8CC4-BD5F1A2F99A5}" type="pres">
      <dgm:prSet presAssocID="{450FC9BE-B0D5-4C93-AFB2-066B2182D8DE}" presName="textNode" presStyleLbl="node1" presStyleIdx="2" presStyleCnt="4" custScaleY="172919">
        <dgm:presLayoutVars>
          <dgm:bulletEnabled val="1"/>
        </dgm:presLayoutVars>
      </dgm:prSet>
      <dgm:spPr/>
    </dgm:pt>
    <dgm:pt modelId="{5127A64E-E019-4377-AAB6-F4CF9116654B}" type="pres">
      <dgm:prSet presAssocID="{BCBA17D1-1F44-4D08-BBBD-4184D6C5B215}" presName="sibTrans" presStyleCnt="0"/>
      <dgm:spPr/>
    </dgm:pt>
    <dgm:pt modelId="{AD3056CB-8EE3-4EB7-890C-003364A20F64}" type="pres">
      <dgm:prSet presAssocID="{3626269C-5CB8-4D08-9EC1-120B990429C1}" presName="textNode" presStyleLbl="node1" presStyleIdx="3" presStyleCnt="4" custScaleY="172919">
        <dgm:presLayoutVars>
          <dgm:bulletEnabled val="1"/>
        </dgm:presLayoutVars>
      </dgm:prSet>
      <dgm:spPr/>
    </dgm:pt>
  </dgm:ptLst>
  <dgm:cxnLst>
    <dgm:cxn modelId="{4A62F503-4474-4746-8F98-CE7DD0DA716E}" type="presOf" srcId="{8880C5A7-1241-4630-87A4-D2AA36CAEFA8}" destId="{E58A1AB4-5D5A-4999-B220-25F1FDD2AE67}" srcOrd="0" destOrd="0" presId="urn:microsoft.com/office/officeart/2005/8/layout/hProcess9"/>
    <dgm:cxn modelId="{84AB4417-9279-4B58-B130-320460673EA7}" type="presOf" srcId="{3626269C-5CB8-4D08-9EC1-120B990429C1}" destId="{AD3056CB-8EE3-4EB7-890C-003364A20F64}" srcOrd="0" destOrd="0" presId="urn:microsoft.com/office/officeart/2005/8/layout/hProcess9"/>
    <dgm:cxn modelId="{A9164E1E-5F17-4E84-BA56-AC412804589B}" srcId="{450FC9BE-B0D5-4C93-AFB2-066B2182D8DE}" destId="{4898DCA4-5601-4A32-947B-8BC5C19DFA2C}" srcOrd="0" destOrd="0" parTransId="{4B0BE96D-1E33-4CBC-9849-11A315CD2C32}" sibTransId="{ACE74549-B2B0-4B98-8B92-436FBB8D8279}"/>
    <dgm:cxn modelId="{2B243224-9D1B-431B-A4CF-A4989576370D}" srcId="{3626269C-5CB8-4D08-9EC1-120B990429C1}" destId="{B9324CE4-9D16-4F49-9CEB-BB8F8D4CE090}" srcOrd="1" destOrd="0" parTransId="{177B840A-AFAC-44F3-B7DF-01DA720E9E97}" sibTransId="{9BBB8188-A279-4052-91E4-7675BFC8176A}"/>
    <dgm:cxn modelId="{956B7925-7310-4AD9-B203-2DBB9781EBF9}" type="presOf" srcId="{2655E64F-28B1-48CB-8A4C-2BEC153C3BC6}" destId="{AD3056CB-8EE3-4EB7-890C-003364A20F64}" srcOrd="0" destOrd="1" presId="urn:microsoft.com/office/officeart/2005/8/layout/hProcess9"/>
    <dgm:cxn modelId="{E18B3F37-E070-4B4E-8BC5-674935FD66CC}" type="presOf" srcId="{450FC9BE-B0D5-4C93-AFB2-066B2182D8DE}" destId="{0CCD42B8-A6C8-4974-8CC4-BD5F1A2F99A5}" srcOrd="0" destOrd="0" presId="urn:microsoft.com/office/officeart/2005/8/layout/hProcess9"/>
    <dgm:cxn modelId="{E6F95740-1326-4778-B7E7-29686728EA84}" type="presOf" srcId="{DD8F5160-522F-4BD8-BD68-486A796A2436}" destId="{E1B00825-F3BD-412F-9013-5CD79E82905E}" srcOrd="0" destOrd="2" presId="urn:microsoft.com/office/officeart/2005/8/layout/hProcess9"/>
    <dgm:cxn modelId="{38CE2F51-DDDF-417A-ADE2-30B96151BF2F}" srcId="{8880C5A7-1241-4630-87A4-D2AA36CAEFA8}" destId="{3626269C-5CB8-4D08-9EC1-120B990429C1}" srcOrd="3" destOrd="0" parTransId="{AA7A570E-F06F-49A3-BE99-59946F1A7DF5}" sibTransId="{D40AC130-62BA-4D91-9F73-DD83049F4318}"/>
    <dgm:cxn modelId="{FD121C52-7BE7-40D4-9A03-C095EAE5B29F}" type="presOf" srcId="{DE569046-8D53-4384-977E-ED42B21946E3}" destId="{0CCD42B8-A6C8-4974-8CC4-BD5F1A2F99A5}" srcOrd="0" destOrd="2" presId="urn:microsoft.com/office/officeart/2005/8/layout/hProcess9"/>
    <dgm:cxn modelId="{8A5C5452-189B-4319-8CC4-4ED6EAE3CCDF}" type="presOf" srcId="{38BC3353-CA2D-4F63-B6A0-421A2782B3FD}" destId="{3B95E8CE-953C-478F-B177-EC03DC99E31F}" srcOrd="0" destOrd="2" presId="urn:microsoft.com/office/officeart/2005/8/layout/hProcess9"/>
    <dgm:cxn modelId="{7BCFFF56-C06E-4E9C-A71B-858728A3449C}" type="presOf" srcId="{8D5C22A6-1D09-4E52-846B-A89E3C48B368}" destId="{3B95E8CE-953C-478F-B177-EC03DC99E31F}" srcOrd="0" destOrd="1" presId="urn:microsoft.com/office/officeart/2005/8/layout/hProcess9"/>
    <dgm:cxn modelId="{FC34635F-4906-4A00-9C35-FA58E0B7BE18}" type="presOf" srcId="{C93BE858-51CA-4FC2-9E70-87C339F4A922}" destId="{E1B00825-F3BD-412F-9013-5CD79E82905E}" srcOrd="0" destOrd="0" presId="urn:microsoft.com/office/officeart/2005/8/layout/hProcess9"/>
    <dgm:cxn modelId="{B668AF78-1562-4777-A098-D1858F09E568}" type="presOf" srcId="{859DEB47-C8BE-4A3D-9027-81897ABA9EA6}" destId="{E1B00825-F3BD-412F-9013-5CD79E82905E}" srcOrd="0" destOrd="1" presId="urn:microsoft.com/office/officeart/2005/8/layout/hProcess9"/>
    <dgm:cxn modelId="{D0075684-9812-4034-918C-AD0E25131078}" srcId="{9D687D1B-6594-44D2-B5E9-94F0CE8EADAE}" destId="{8D5C22A6-1D09-4E52-846B-A89E3C48B368}" srcOrd="0" destOrd="0" parTransId="{56216A02-B7B2-4C45-B930-5B487FEFFD78}" sibTransId="{45B045FC-0FDD-4D25-92EA-F9DC9E519284}"/>
    <dgm:cxn modelId="{85B2ED8B-204C-4160-8DCB-C0D71E536672}" type="presOf" srcId="{4898DCA4-5601-4A32-947B-8BC5C19DFA2C}" destId="{0CCD42B8-A6C8-4974-8CC4-BD5F1A2F99A5}" srcOrd="0" destOrd="1" presId="urn:microsoft.com/office/officeart/2005/8/layout/hProcess9"/>
    <dgm:cxn modelId="{119E9F8E-E8A7-4660-880B-0EAD34218E19}" srcId="{8880C5A7-1241-4630-87A4-D2AA36CAEFA8}" destId="{9D687D1B-6594-44D2-B5E9-94F0CE8EADAE}" srcOrd="0" destOrd="0" parTransId="{209DA049-B348-4753-9421-DAEA94CC1461}" sibTransId="{74361ECA-81E9-4B3E-A22C-98E61197A34C}"/>
    <dgm:cxn modelId="{5E6F76D3-C739-4606-8CBA-F89CCE01CE46}" type="presOf" srcId="{B9324CE4-9D16-4F49-9CEB-BB8F8D4CE090}" destId="{AD3056CB-8EE3-4EB7-890C-003364A20F64}" srcOrd="0" destOrd="2" presId="urn:microsoft.com/office/officeart/2005/8/layout/hProcess9"/>
    <dgm:cxn modelId="{A1292BDA-7795-4993-9C60-3C8E422B4D08}" srcId="{8880C5A7-1241-4630-87A4-D2AA36CAEFA8}" destId="{C93BE858-51CA-4FC2-9E70-87C339F4A922}" srcOrd="1" destOrd="0" parTransId="{5A4FFE39-E42D-4C57-8353-72BA94E2A9EA}" sibTransId="{76176C80-A37E-4B6F-8884-BC71469130D8}"/>
    <dgm:cxn modelId="{4A6F35DB-1B8A-4928-982E-C783A487CDFE}" srcId="{450FC9BE-B0D5-4C93-AFB2-066B2182D8DE}" destId="{DE569046-8D53-4384-977E-ED42B21946E3}" srcOrd="1" destOrd="0" parTransId="{FBA1ABA2-E06E-4C14-85AF-6CEE1875EB4C}" sibTransId="{E21D9061-67DD-4DF8-9579-982D69FA0AE1}"/>
    <dgm:cxn modelId="{351B33DE-033C-420F-A521-78973C0F7245}" type="presOf" srcId="{9D687D1B-6594-44D2-B5E9-94F0CE8EADAE}" destId="{3B95E8CE-953C-478F-B177-EC03DC99E31F}" srcOrd="0" destOrd="0" presId="urn:microsoft.com/office/officeart/2005/8/layout/hProcess9"/>
    <dgm:cxn modelId="{72C89BE1-BCA2-448A-A89A-2F72C7A95D1A}" srcId="{9D687D1B-6594-44D2-B5E9-94F0CE8EADAE}" destId="{38BC3353-CA2D-4F63-B6A0-421A2782B3FD}" srcOrd="1" destOrd="0" parTransId="{E0DEAC47-8600-49C4-B6C7-99916A665CEB}" sibTransId="{750CB0FD-428E-4C12-B84F-73837B42E90C}"/>
    <dgm:cxn modelId="{147763E7-CFB6-48DD-A697-7999C0F3ABAD}" srcId="{C93BE858-51CA-4FC2-9E70-87C339F4A922}" destId="{DD8F5160-522F-4BD8-BD68-486A796A2436}" srcOrd="1" destOrd="0" parTransId="{C222317A-8EBA-4B4D-BC2E-B9148300E621}" sibTransId="{AFC290C2-4A83-4DE8-84D9-28420DC53BFC}"/>
    <dgm:cxn modelId="{9D4494EE-C51D-4679-B280-4E32D4C1BAEF}" srcId="{C93BE858-51CA-4FC2-9E70-87C339F4A922}" destId="{859DEB47-C8BE-4A3D-9027-81897ABA9EA6}" srcOrd="0" destOrd="0" parTransId="{53BC773B-1832-4127-A2A0-F0CAC73442E9}" sibTransId="{6D42ABC9-B6A8-4F80-9A8D-5E5C3BF5911E}"/>
    <dgm:cxn modelId="{B62081FD-8515-48FC-B175-FE7246F9F72E}" srcId="{8880C5A7-1241-4630-87A4-D2AA36CAEFA8}" destId="{450FC9BE-B0D5-4C93-AFB2-066B2182D8DE}" srcOrd="2" destOrd="0" parTransId="{01530FCC-C78F-4C9B-BEFE-89C79E70878D}" sibTransId="{BCBA17D1-1F44-4D08-BBBD-4184D6C5B215}"/>
    <dgm:cxn modelId="{676A1EFF-B8A1-4025-8F5E-29071314397B}" srcId="{3626269C-5CB8-4D08-9EC1-120B990429C1}" destId="{2655E64F-28B1-48CB-8A4C-2BEC153C3BC6}" srcOrd="0" destOrd="0" parTransId="{29709780-AB5F-4C19-8180-D336E9E8A229}" sibTransId="{6E380F26-04DD-4E9C-964A-58F943F722CB}"/>
    <dgm:cxn modelId="{4BFECD48-08A2-4C7F-B5B1-51DE35AE5C20}" type="presParOf" srcId="{E58A1AB4-5D5A-4999-B220-25F1FDD2AE67}" destId="{A51C46FE-3782-49F3-B990-1FCD0C5741BA}" srcOrd="0" destOrd="0" presId="urn:microsoft.com/office/officeart/2005/8/layout/hProcess9"/>
    <dgm:cxn modelId="{598B71DF-97C8-4065-977F-BA7BFCDF120C}" type="presParOf" srcId="{E58A1AB4-5D5A-4999-B220-25F1FDD2AE67}" destId="{0BEB5DBC-48D9-4310-B2C6-AA60D292DBA6}" srcOrd="1" destOrd="0" presId="urn:microsoft.com/office/officeart/2005/8/layout/hProcess9"/>
    <dgm:cxn modelId="{8A5ED81A-9B6F-4F5F-81C2-EF833818FB53}" type="presParOf" srcId="{0BEB5DBC-48D9-4310-B2C6-AA60D292DBA6}" destId="{3B95E8CE-953C-478F-B177-EC03DC99E31F}" srcOrd="0" destOrd="0" presId="urn:microsoft.com/office/officeart/2005/8/layout/hProcess9"/>
    <dgm:cxn modelId="{D0F4BA0A-0634-4035-9929-175EE6F04310}" type="presParOf" srcId="{0BEB5DBC-48D9-4310-B2C6-AA60D292DBA6}" destId="{C61827FD-EF9B-4210-AA52-69AABC1A90E5}" srcOrd="1" destOrd="0" presId="urn:microsoft.com/office/officeart/2005/8/layout/hProcess9"/>
    <dgm:cxn modelId="{95291E14-B72A-4F41-A4B6-47AD360770C8}" type="presParOf" srcId="{0BEB5DBC-48D9-4310-B2C6-AA60D292DBA6}" destId="{E1B00825-F3BD-412F-9013-5CD79E82905E}" srcOrd="2" destOrd="0" presId="urn:microsoft.com/office/officeart/2005/8/layout/hProcess9"/>
    <dgm:cxn modelId="{193318A0-541A-42C6-8341-3221E4618BD1}" type="presParOf" srcId="{0BEB5DBC-48D9-4310-B2C6-AA60D292DBA6}" destId="{CC3E3199-A3B5-4246-BD12-6ABCBCF0389F}" srcOrd="3" destOrd="0" presId="urn:microsoft.com/office/officeart/2005/8/layout/hProcess9"/>
    <dgm:cxn modelId="{B624A50C-7A50-46FE-8CFE-799C4A5AC9AA}" type="presParOf" srcId="{0BEB5DBC-48D9-4310-B2C6-AA60D292DBA6}" destId="{0CCD42B8-A6C8-4974-8CC4-BD5F1A2F99A5}" srcOrd="4" destOrd="0" presId="urn:microsoft.com/office/officeart/2005/8/layout/hProcess9"/>
    <dgm:cxn modelId="{9BECABB6-B0E6-40A9-985B-A3FD709A334C}" type="presParOf" srcId="{0BEB5DBC-48D9-4310-B2C6-AA60D292DBA6}" destId="{5127A64E-E019-4377-AAB6-F4CF9116654B}" srcOrd="5" destOrd="0" presId="urn:microsoft.com/office/officeart/2005/8/layout/hProcess9"/>
    <dgm:cxn modelId="{C365506D-DD3D-4F1B-8012-EE51BC743B31}" type="presParOf" srcId="{0BEB5DBC-48D9-4310-B2C6-AA60D292DBA6}" destId="{AD3056CB-8EE3-4EB7-890C-003364A20F64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1C46FE-3782-49F3-B990-1FCD0C5741BA}">
      <dsp:nvSpPr>
        <dsp:cNvPr id="0" name=""/>
        <dsp:cNvSpPr/>
      </dsp:nvSpPr>
      <dsp:spPr>
        <a:xfrm>
          <a:off x="614267" y="0"/>
          <a:ext cx="6961695" cy="3727730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95E8CE-953C-478F-B177-EC03DC99E31F}">
      <dsp:nvSpPr>
        <dsp:cNvPr id="0" name=""/>
        <dsp:cNvSpPr/>
      </dsp:nvSpPr>
      <dsp:spPr>
        <a:xfrm>
          <a:off x="4099" y="1118318"/>
          <a:ext cx="1971573" cy="149109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Module I: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About the Digital Research Alliance of Canada (DRAC)</a:t>
          </a:r>
        </a:p>
      </dsp:txBody>
      <dsp:txXfrm>
        <a:off x="76888" y="1191107"/>
        <a:ext cx="1825995" cy="1345514"/>
      </dsp:txXfrm>
    </dsp:sp>
    <dsp:sp modelId="{8387A4EB-6E23-49A2-A9FB-2821FDEE4ED3}">
      <dsp:nvSpPr>
        <dsp:cNvPr id="0" name=""/>
        <dsp:cNvSpPr/>
      </dsp:nvSpPr>
      <dsp:spPr>
        <a:xfrm>
          <a:off x="2074251" y="1118318"/>
          <a:ext cx="1971573" cy="149109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Module II: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Preparing Your Data and Code for DRAC</a:t>
          </a:r>
          <a:endParaRPr lang="en-CA" sz="1800" kern="1200" dirty="0"/>
        </a:p>
      </dsp:txBody>
      <dsp:txXfrm>
        <a:off x="2147040" y="1191107"/>
        <a:ext cx="1825995" cy="1345514"/>
      </dsp:txXfrm>
    </dsp:sp>
    <dsp:sp modelId="{0CCD42B8-A6C8-4974-8CC4-BD5F1A2F99A5}">
      <dsp:nvSpPr>
        <dsp:cNvPr id="0" name=""/>
        <dsp:cNvSpPr/>
      </dsp:nvSpPr>
      <dsp:spPr>
        <a:xfrm>
          <a:off x="4144404" y="1118318"/>
          <a:ext cx="1971573" cy="149109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Module III: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Running a Job on DRAC</a:t>
          </a:r>
        </a:p>
      </dsp:txBody>
      <dsp:txXfrm>
        <a:off x="4217193" y="1191107"/>
        <a:ext cx="1825995" cy="1345514"/>
      </dsp:txXfrm>
    </dsp:sp>
    <dsp:sp modelId="{AD3056CB-8EE3-4EB7-890C-003364A20F64}">
      <dsp:nvSpPr>
        <dsp:cNvPr id="0" name=""/>
        <dsp:cNvSpPr/>
      </dsp:nvSpPr>
      <dsp:spPr>
        <a:xfrm>
          <a:off x="6214556" y="1118318"/>
          <a:ext cx="1971573" cy="149109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Module IV: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Handling Job Errors</a:t>
          </a:r>
        </a:p>
      </dsp:txBody>
      <dsp:txXfrm>
        <a:off x="6287345" y="1191107"/>
        <a:ext cx="1825995" cy="13455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1C46FE-3782-49F3-B990-1FCD0C5741BA}">
      <dsp:nvSpPr>
        <dsp:cNvPr id="0" name=""/>
        <dsp:cNvSpPr/>
      </dsp:nvSpPr>
      <dsp:spPr>
        <a:xfrm>
          <a:off x="291040" y="0"/>
          <a:ext cx="7456383" cy="4396912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95E8CE-953C-478F-B177-EC03DC99E31F}">
      <dsp:nvSpPr>
        <dsp:cNvPr id="0" name=""/>
        <dsp:cNvSpPr/>
      </dsp:nvSpPr>
      <dsp:spPr>
        <a:xfrm>
          <a:off x="159420" y="677836"/>
          <a:ext cx="1739738" cy="304123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Module I:</a:t>
          </a:r>
          <a:endParaRPr lang="en-C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CA" sz="1600" kern="1200" dirty="0"/>
            <a:t>What is DRAC and the services they provide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CA" sz="1600" kern="1200" dirty="0"/>
            <a:t>The conceptual workflow of interacting with DRAC</a:t>
          </a:r>
        </a:p>
      </dsp:txBody>
      <dsp:txXfrm>
        <a:off x="244347" y="762763"/>
        <a:ext cx="1569884" cy="2871384"/>
      </dsp:txXfrm>
    </dsp:sp>
    <dsp:sp modelId="{E1B00825-F3BD-412F-9013-5CD79E82905E}">
      <dsp:nvSpPr>
        <dsp:cNvPr id="0" name=""/>
        <dsp:cNvSpPr/>
      </dsp:nvSpPr>
      <dsp:spPr>
        <a:xfrm>
          <a:off x="2152715" y="696462"/>
          <a:ext cx="1739738" cy="300398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Module II:</a:t>
          </a:r>
          <a:endParaRPr lang="en-C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CA" sz="1600" kern="1200" dirty="0"/>
            <a:t>How to upload files from your local computer to DRAC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CA" sz="1600" kern="1200" dirty="0"/>
            <a:t>How to download files from DRAC to your local computer</a:t>
          </a:r>
        </a:p>
      </dsp:txBody>
      <dsp:txXfrm>
        <a:off x="2237642" y="781389"/>
        <a:ext cx="1569884" cy="2834133"/>
      </dsp:txXfrm>
    </dsp:sp>
    <dsp:sp modelId="{0CCD42B8-A6C8-4974-8CC4-BD5F1A2F99A5}">
      <dsp:nvSpPr>
        <dsp:cNvPr id="0" name=""/>
        <dsp:cNvSpPr/>
      </dsp:nvSpPr>
      <dsp:spPr>
        <a:xfrm>
          <a:off x="4146011" y="677836"/>
          <a:ext cx="1739738" cy="304123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Module III:</a:t>
          </a:r>
          <a:endParaRPr lang="en-C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CA" sz="1600" kern="1200" dirty="0"/>
            <a:t>How to run your code using DRAC’s high-performance computing system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CA" sz="1600" kern="1200" dirty="0"/>
            <a:t>How to monitor the status of your job</a:t>
          </a:r>
        </a:p>
      </dsp:txBody>
      <dsp:txXfrm>
        <a:off x="4230938" y="762763"/>
        <a:ext cx="1569884" cy="2871384"/>
      </dsp:txXfrm>
    </dsp:sp>
    <dsp:sp modelId="{AD3056CB-8EE3-4EB7-890C-003364A20F64}">
      <dsp:nvSpPr>
        <dsp:cNvPr id="0" name=""/>
        <dsp:cNvSpPr/>
      </dsp:nvSpPr>
      <dsp:spPr>
        <a:xfrm>
          <a:off x="6139306" y="677836"/>
          <a:ext cx="1739738" cy="304123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Module IV:</a:t>
          </a:r>
          <a:endParaRPr lang="en-C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CA" sz="1600" kern="1200" dirty="0"/>
            <a:t>How to identify and address common errors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CA" sz="1600" kern="1200" dirty="0"/>
            <a:t>How to get external technical help when needed</a:t>
          </a:r>
        </a:p>
      </dsp:txBody>
      <dsp:txXfrm>
        <a:off x="6224233" y="762763"/>
        <a:ext cx="1569884" cy="28713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24/09/2026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Self intro</a:t>
            </a:r>
          </a:p>
          <a:p>
            <a:r>
              <a:rPr lang="en-US" dirty="0"/>
              <a:t>- How HPC is necessary for my research</a:t>
            </a:r>
          </a:p>
          <a:p>
            <a:r>
              <a:rPr lang="en-US" dirty="0"/>
              <a:t>- Everyone introduction</a:t>
            </a:r>
          </a:p>
          <a:p>
            <a:r>
              <a:rPr lang="en-US" dirty="0"/>
              <a:t>	- Name</a:t>
            </a:r>
          </a:p>
          <a:p>
            <a:r>
              <a:rPr lang="en-US" dirty="0"/>
              <a:t>	- Department</a:t>
            </a:r>
          </a:p>
          <a:p>
            <a:r>
              <a:rPr lang="en-US" dirty="0"/>
              <a:t>	- Why they are here</a:t>
            </a:r>
          </a:p>
          <a:p>
            <a:r>
              <a:rPr lang="en-US" dirty="0"/>
              <a:t>	- One hobby</a:t>
            </a:r>
          </a:p>
          <a:p>
            <a:endParaRPr lang="en-US" dirty="0"/>
          </a:p>
          <a:p>
            <a:r>
              <a:rPr lang="en-US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2423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653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625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err="1"/>
              <a:t>Narval</a:t>
            </a:r>
            <a:r>
              <a:rPr lang="en-CA" dirty="0"/>
              <a:t> at ETS (30min walk from McGill campus)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0967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6605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refinement should happen in your own kitchen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Debugging your code should happen locally.</a:t>
            </a:r>
          </a:p>
          <a:p>
            <a:endParaRPr lang="en-US" dirty="0"/>
          </a:p>
          <a:p>
            <a:r>
              <a:rPr lang="en-US" dirty="0"/>
              <a:t>You can imagine that this is just a place holder for your own code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7008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2C83C-52C0-169E-40E5-8AFECE85D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C85C78-5FA7-7540-C571-A3F495F4C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CC8AC-86A7-C911-2C74-E4650B2FE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Give demo in local terminal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BF12F-A524-09A0-55F1-0505DDE4A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7307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in split window (local terminal + folder)</a:t>
            </a:r>
          </a:p>
          <a:p>
            <a:r>
              <a:rPr lang="en-US" dirty="0"/>
              <a:t>Go through each command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5727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Creating a destination folder on globus:</a:t>
            </a:r>
          </a:p>
          <a:p>
            <a:pPr marL="228600" indent="-228600">
              <a:buAutoNum type="arabicPeriod"/>
            </a:pPr>
            <a:r>
              <a:rPr lang="en-CA" dirty="0"/>
              <a:t>Go to globus website</a:t>
            </a:r>
          </a:p>
          <a:p>
            <a:pPr marL="228600" indent="-228600">
              <a:buAutoNum type="arabicPeriod"/>
            </a:pPr>
            <a:r>
              <a:rPr lang="en-CA" dirty="0"/>
              <a:t>Click file manager</a:t>
            </a:r>
          </a:p>
          <a:p>
            <a:pPr marL="228600" indent="-228600">
              <a:buAutoNum type="arabicPeriod"/>
            </a:pPr>
            <a:r>
              <a:rPr lang="en-CA" dirty="0"/>
              <a:t>Search for </a:t>
            </a:r>
            <a:r>
              <a:rPr lang="en-CA" dirty="0" err="1"/>
              <a:t>nibi</a:t>
            </a:r>
            <a:r>
              <a:rPr lang="en-CA" dirty="0"/>
              <a:t> </a:t>
            </a:r>
          </a:p>
          <a:p>
            <a:pPr marL="228600" indent="-228600">
              <a:buAutoNum type="arabicPeriod"/>
            </a:pPr>
            <a:r>
              <a:rPr lang="en-CA" dirty="0"/>
              <a:t>Navigate to projects folder</a:t>
            </a:r>
          </a:p>
          <a:p>
            <a:pPr marL="228600" indent="-228600">
              <a:buAutoNum type="arabicPeriod"/>
            </a:pPr>
            <a:r>
              <a:rPr lang="en-CA" dirty="0"/>
              <a:t>Create new </a:t>
            </a:r>
            <a:r>
              <a:rPr lang="en-CA" dirty="0" err="1"/>
              <a:t>IntroToHighPerformanceComputing</a:t>
            </a:r>
            <a:r>
              <a:rPr lang="en-CA" dirty="0"/>
              <a:t> folder</a:t>
            </a:r>
          </a:p>
          <a:p>
            <a:pPr marL="228600" indent="-228600">
              <a:buAutoNum type="arabicPeriod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4934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Log into DRAC to illustrate parallel between globus and folders on DRAC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5442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ls command shows your new folder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6132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412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Our materials have been delivered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29239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Together</a:t>
            </a:r>
          </a:p>
          <a:p>
            <a:pPr marL="228600" indent="-228600">
              <a:buAutoNum type="arabicPeriod"/>
            </a:pPr>
            <a:r>
              <a:rPr lang="en-US" dirty="0"/>
              <a:t>to  4. By themselves and go around the room to check</a:t>
            </a:r>
          </a:p>
          <a:p>
            <a:r>
              <a:rPr lang="en-US" dirty="0"/>
              <a:t>5. to 6. together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46232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</a:t>
            </a:r>
          </a:p>
          <a:p>
            <a:endParaRPr lang="en-US" dirty="0"/>
          </a:p>
          <a:p>
            <a:r>
              <a:rPr lang="en-US" dirty="0"/>
              <a:t>Recap what they learned</a:t>
            </a:r>
          </a:p>
          <a:p>
            <a:endParaRPr lang="en-US" dirty="0"/>
          </a:p>
          <a:p>
            <a:r>
              <a:rPr lang="en-US" dirty="0"/>
              <a:t>Your job is complete, let’s talk about the output files:</a:t>
            </a:r>
          </a:p>
          <a:p>
            <a:pPr marL="0" marR="0" lvl="0" indent="0" algn="l" defTabSz="9138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 What output file are you expecting? Where are you expecting it to be written?</a:t>
            </a:r>
          </a:p>
          <a:p>
            <a:r>
              <a:rPr lang="en-US" dirty="0"/>
              <a:t>2. Is it there?</a:t>
            </a:r>
          </a:p>
          <a:p>
            <a:r>
              <a:rPr lang="en-US" dirty="0"/>
              <a:t>3. Are there other files output? If so, where are they? (don’t print out)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84878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change input file for fun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223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2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1"/>
            <a:ext cx="78867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2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90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17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27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93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BBA76F50-A55F-9245-A363-154E7DFB1C4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1" r:id="rId3"/>
    <p:sldLayoutId id="2147483662" r:id="rId4"/>
    <p:sldLayoutId id="2147483663" r:id="rId5"/>
    <p:sldLayoutId id="2147483664" r:id="rId6"/>
    <p:sldLayoutId id="2147483666" r:id="rId7"/>
    <p:sldLayoutId id="2147483667" r:id="rId8"/>
    <p:sldLayoutId id="2147483669" r:id="rId9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globus.org/file-manager" TargetMode="Externa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docs.alliancecan.ca/wiki/Technical_support" TargetMode="Externa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globus.org/file-manager" TargetMode="Externa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9BAEAE-7A20-842B-C249-C9E3E6E364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2840182"/>
            <a:ext cx="8658743" cy="25215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/>
              <a:t>Intro to High-Performance Computing</a:t>
            </a:r>
          </a:p>
          <a:p>
            <a:pPr marL="0" indent="0" algn="ctr">
              <a:buNone/>
            </a:pPr>
            <a:r>
              <a:rPr lang="en-US" sz="2400" dirty="0"/>
              <a:t>Workshop Lead: Megan Ng</a:t>
            </a:r>
          </a:p>
          <a:p>
            <a:pPr marL="0" indent="0" algn="ctr">
              <a:buNone/>
            </a:pPr>
            <a:r>
              <a:rPr lang="en-US" sz="2400" dirty="0"/>
              <a:t>September 28, 2026</a:t>
            </a:r>
          </a:p>
        </p:txBody>
      </p:sp>
    </p:spTree>
    <p:extLst>
      <p:ext uri="{BB962C8B-B14F-4D97-AF65-F5344CB8AC3E}">
        <p14:creationId xmlns:p14="http://schemas.microsoft.com/office/powerpoint/2010/main" val="1767756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51884-A6B3-58A6-B16E-EF55E95F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F21381-F39E-A62D-24DA-B464698B5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2910224"/>
            <a:ext cx="2552700" cy="25809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CBA021-D268-71F8-CF41-948D01A7CDA0}"/>
              </a:ext>
            </a:extLst>
          </p:cNvPr>
          <p:cNvSpPr txBox="1"/>
          <p:nvPr/>
        </p:nvSpPr>
        <p:spPr>
          <a:xfrm flipH="1">
            <a:off x="942022" y="2540764"/>
            <a:ext cx="207835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Scan for feedback!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4F1740F-260A-034B-4497-CA56199E8B09}"/>
              </a:ext>
            </a:extLst>
          </p:cNvPr>
          <p:cNvSpPr/>
          <p:nvPr/>
        </p:nvSpPr>
        <p:spPr>
          <a:xfrm>
            <a:off x="438150" y="2447925"/>
            <a:ext cx="3067050" cy="3276600"/>
          </a:xfrm>
          <a:prstGeom prst="roundRect">
            <a:avLst/>
          </a:prstGeom>
          <a:noFill/>
          <a:ln w="76200">
            <a:solidFill>
              <a:srgbClr val="ED1C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5432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2EEF-35DC-7AAD-BDF4-F1F66EC5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Workshop Outline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920D3B5-2649-6489-CFEB-98A31AD735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1693136"/>
              </p:ext>
            </p:extLst>
          </p:nvPr>
        </p:nvGraphicFramePr>
        <p:xfrm>
          <a:off x="497840" y="1733270"/>
          <a:ext cx="8190230" cy="3727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9707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1C46FE-3782-49F3-B990-1FCD0C5741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95E8CE-953C-478F-B177-EC03DC99E3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87A4EB-6E23-49A2-A9FB-2821FDEE4E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CCD42B8-A6C8-4974-8CC4-BD5F1A2F99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D3056CB-8EE3-4EB7-890C-003364A20F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C53E48-DF0A-2B71-D5ED-0E274A097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Pre-requisites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C5D65C-DF83-F4CB-AE4E-290C76CC3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You must have…</a:t>
            </a:r>
          </a:p>
          <a:p>
            <a:r>
              <a:rPr lang="en-US" dirty="0"/>
              <a:t>A terminal</a:t>
            </a:r>
          </a:p>
          <a:p>
            <a:r>
              <a:rPr lang="en-US" dirty="0"/>
              <a:t>A Digital Research Alliance of Canada account, login information, and access to one of their general-purpose clusters (</a:t>
            </a:r>
            <a:r>
              <a:rPr lang="en-CA" dirty="0"/>
              <a:t>Fir, </a:t>
            </a:r>
            <a:r>
              <a:rPr lang="en-CA" dirty="0" err="1"/>
              <a:t>Narval</a:t>
            </a:r>
            <a:r>
              <a:rPr lang="en-CA" dirty="0"/>
              <a:t>, Nibi, or Rorqual)</a:t>
            </a:r>
            <a:endParaRPr lang="en-US" dirty="0"/>
          </a:p>
          <a:p>
            <a:r>
              <a:rPr lang="en-US" dirty="0"/>
              <a:t>The Duo Mobile application downloaded on your phone</a:t>
            </a:r>
          </a:p>
          <a:p>
            <a:r>
              <a:rPr lang="en-US" dirty="0"/>
              <a:t>Globus Connect Personal installed and running in the background on your laptop</a:t>
            </a:r>
          </a:p>
          <a:p>
            <a:r>
              <a:rPr lang="en-US" dirty="0"/>
              <a:t>A code editor (I will be using VS code)</a:t>
            </a:r>
          </a:p>
          <a:p>
            <a:r>
              <a:rPr lang="en-US" dirty="0"/>
              <a:t>Workshop materials downloaded to your laptop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96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999070-108E-C245-97F4-DBF8FE0A3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Module I: </a:t>
            </a:r>
            <a:br>
              <a:rPr lang="en-CA" dirty="0"/>
            </a:br>
            <a:r>
              <a:rPr lang="en-CA" dirty="0"/>
              <a:t>About the Digital Research Alliance of Canada (DRAC)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5ADFF6-C739-BC4D-8406-2A385F59F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90364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B5DD5B-F5A5-7951-A5D8-D5BEA7A44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716" y="2065208"/>
            <a:ext cx="1158891" cy="33016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304E51-7651-224E-253F-F49A95F15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731" y="1868211"/>
            <a:ext cx="3582863" cy="3936585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FBC8F67-DB66-369B-8540-936ECF97F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About DRAC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8EA01D-727B-4BF0-5323-9387E65CB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825627"/>
            <a:ext cx="4747218" cy="4351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What is DRAC?</a:t>
            </a:r>
          </a:p>
          <a:p>
            <a:r>
              <a:rPr lang="en-CA" dirty="0"/>
              <a:t>A national not-for-profit membership-based organization that provides digital research services for researchers in Canada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C17097-FF87-976A-7441-EBA56FFAFA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928985"/>
            <a:ext cx="3687118" cy="87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66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7F2AE-23D1-4A75-493B-27359362E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About DRAC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02541-64EC-6C4B-CCA8-FF8158618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886700" cy="132556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b="1" dirty="0"/>
              <a:t>Why do we use DRAC?</a:t>
            </a:r>
            <a:endParaRPr lang="en-CA" dirty="0"/>
          </a:p>
          <a:p>
            <a:r>
              <a:rPr lang="en-US" dirty="0"/>
              <a:t>CPU/GPU and memory constraints can make computationally intensive tasks slow or impossible on your everyday computer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2F9EBD-11A3-75FD-3890-A88021FE8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178" y="3864766"/>
            <a:ext cx="3098800" cy="1721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BFF401-FFF1-6CCC-CFEE-E7F2BC34F9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341" r="11916"/>
          <a:stretch>
            <a:fillRect/>
          </a:stretch>
        </p:blipFill>
        <p:spPr>
          <a:xfrm>
            <a:off x="5113022" y="3864766"/>
            <a:ext cx="3098800" cy="21769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F3FAB9-9E10-790C-3EA9-E118069A28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141"/>
          <a:stretch>
            <a:fillRect/>
          </a:stretch>
        </p:blipFill>
        <p:spPr>
          <a:xfrm>
            <a:off x="5113022" y="5185667"/>
            <a:ext cx="1038431" cy="8445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1AF23E-2C1D-8D44-0CF7-3C05B15ADF5F}"/>
              </a:ext>
            </a:extLst>
          </p:cNvPr>
          <p:cNvSpPr txBox="1"/>
          <p:nvPr/>
        </p:nvSpPr>
        <p:spPr>
          <a:xfrm>
            <a:off x="1585419" y="3485600"/>
            <a:ext cx="181318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Your computer :/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57251D-3076-9456-A793-D1EBC4A95CF5}"/>
              </a:ext>
            </a:extLst>
          </p:cNvPr>
          <p:cNvSpPr txBox="1"/>
          <p:nvPr/>
        </p:nvSpPr>
        <p:spPr>
          <a:xfrm>
            <a:off x="5448949" y="3485600"/>
            <a:ext cx="2426946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A </a:t>
            </a:r>
            <a:r>
              <a:rPr lang="en-CA" b="1"/>
              <a:t>DRAC Supercomputer</a:t>
            </a:r>
            <a:endParaRPr lang="en-CA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807606-9A4F-6087-B4F0-A76300230E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178" y="3299156"/>
            <a:ext cx="3322142" cy="3157531"/>
          </a:xfrm>
          <a:prstGeom prst="rect">
            <a:avLst/>
          </a:prstGeom>
        </p:spPr>
      </p:pic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E7C60234-EA22-2846-3030-D4A32AF8C432}"/>
              </a:ext>
            </a:extLst>
          </p:cNvPr>
          <p:cNvCxnSpPr>
            <a:cxnSpLocks/>
          </p:cNvCxnSpPr>
          <p:nvPr/>
        </p:nvCxnSpPr>
        <p:spPr>
          <a:xfrm rot="5400000">
            <a:off x="5099599" y="4708761"/>
            <a:ext cx="216883" cy="2908765"/>
          </a:xfrm>
          <a:prstGeom prst="curvedConnector2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7EF7CDA4-3595-9720-2C93-D83096B241ED}"/>
              </a:ext>
            </a:extLst>
          </p:cNvPr>
          <p:cNvSpPr/>
          <p:nvPr/>
        </p:nvSpPr>
        <p:spPr>
          <a:xfrm>
            <a:off x="1502410" y="3242556"/>
            <a:ext cx="381463" cy="369460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643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C7FF9A-41FA-F5F4-7265-A0FB79941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You and DRAC: An Analogy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68B195-DAF8-ACD4-9330-A75A694AA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5071110" cy="435133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Task: </a:t>
            </a:r>
            <a:r>
              <a:rPr lang="en-US" dirty="0"/>
              <a:t>Make 2026 frozen dumplings by the end of 2026 (for good luck in 2027 duh)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Your Limitations:</a:t>
            </a:r>
          </a:p>
          <a:p>
            <a:pPr marL="0" indent="0">
              <a:buNone/>
            </a:pPr>
            <a:r>
              <a:rPr lang="en-US" u="sng" dirty="0"/>
              <a:t>SPEED</a:t>
            </a:r>
          </a:p>
          <a:p>
            <a:pPr lvl="1"/>
            <a:r>
              <a:rPr lang="en-US" dirty="0"/>
              <a:t>You are one person </a:t>
            </a:r>
            <a:r>
              <a:rPr lang="en-US" dirty="0">
                <a:sym typeface="Wingdings" panose="05000000000000000000" pitchFamily="2" charset="2"/>
              </a:rPr>
              <a:t> Y</a:t>
            </a:r>
            <a:r>
              <a:rPr lang="en-US" dirty="0"/>
              <a:t>ou would need to make 156 dumplings every single weekend</a:t>
            </a:r>
          </a:p>
          <a:p>
            <a:pPr marL="0" indent="0">
              <a:buNone/>
            </a:pPr>
            <a:r>
              <a:rPr lang="en-US" u="sng" dirty="0"/>
              <a:t>STORAGE</a:t>
            </a:r>
          </a:p>
          <a:p>
            <a:pPr lvl="1"/>
            <a:r>
              <a:rPr lang="en-US" dirty="0"/>
              <a:t>You have a regular sized fridge/freezer </a:t>
            </a:r>
            <a:r>
              <a:rPr lang="en-US" dirty="0">
                <a:sym typeface="Wingdings" panose="05000000000000000000" pitchFamily="2" charset="2"/>
              </a:rPr>
              <a:t> You do not have the space to store the ingredients nor completed frozen dumplings</a:t>
            </a:r>
            <a:endParaRPr lang="en-US" dirty="0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5474E56-DA4D-3F99-A7B7-01649E5384DB}"/>
              </a:ext>
            </a:extLst>
          </p:cNvPr>
          <p:cNvGrpSpPr/>
          <p:nvPr/>
        </p:nvGrpSpPr>
        <p:grpSpPr>
          <a:xfrm>
            <a:off x="6044444" y="1742556"/>
            <a:ext cx="2470906" cy="4350302"/>
            <a:chOff x="5749803" y="1690688"/>
            <a:chExt cx="2765547" cy="4869049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FFC0D87-4366-C9E9-C92D-6F8879D0835B}"/>
                </a:ext>
              </a:extLst>
            </p:cNvPr>
            <p:cNvGrpSpPr/>
            <p:nvPr/>
          </p:nvGrpSpPr>
          <p:grpSpPr>
            <a:xfrm>
              <a:off x="5749803" y="1690688"/>
              <a:ext cx="2765547" cy="3221588"/>
              <a:chOff x="5749803" y="1690688"/>
              <a:chExt cx="2765547" cy="322158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6A729825-A3CC-808F-E23C-1D5DB151795D}"/>
                  </a:ext>
                </a:extLst>
              </p:cNvPr>
              <p:cNvGrpSpPr/>
              <p:nvPr/>
            </p:nvGrpSpPr>
            <p:grpSpPr>
              <a:xfrm>
                <a:off x="5749803" y="1690688"/>
                <a:ext cx="1189873" cy="3211428"/>
                <a:chOff x="5689600" y="1680528"/>
                <a:chExt cx="1769505" cy="4775837"/>
              </a:xfrm>
            </p:grpSpPr>
            <p:pic>
              <p:nvPicPr>
                <p:cNvPr id="2" name="Picture 1">
                  <a:extLst>
                    <a:ext uri="{FF2B5EF4-FFF2-40B4-BE49-F238E27FC236}">
                      <a16:creationId xmlns:a16="http://schemas.microsoft.com/office/drawing/2014/main" id="{4A63C78C-B296-FCA2-79B3-9A1E03DAE1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6805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3578B471-A337-74C5-C4E4-3123D151D5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9255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0894F2A8-0613-4744-B2D0-5303B54544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1706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086BFBA2-ECC6-5AE0-4519-2EF762941F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4156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080A12EE-AD79-7944-DA57-182C1F8198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66068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995B509C-9DBD-842B-4126-4444FAADFB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9057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58E0A898-5658-E136-7465-C78A2279FC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1507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5026893B-8902-1A28-8970-1FA67A4362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3958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726FBCE1-F501-35AB-EC00-BB1042AC28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6408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6D3D9F62-79DC-7263-A0D9-D1974F2892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885885"/>
                  <a:ext cx="1769505" cy="2570480"/>
                </a:xfrm>
                <a:prstGeom prst="rect">
                  <a:avLst/>
                </a:prstGeom>
              </p:spPr>
            </p:pic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47FCD19-8AF9-F2A1-D28A-B5769251287A}"/>
                  </a:ext>
                </a:extLst>
              </p:cNvPr>
              <p:cNvGrpSpPr/>
              <p:nvPr/>
            </p:nvGrpSpPr>
            <p:grpSpPr>
              <a:xfrm>
                <a:off x="6186683" y="1690688"/>
                <a:ext cx="1189873" cy="3211428"/>
                <a:chOff x="5689600" y="1680528"/>
                <a:chExt cx="1769505" cy="4775837"/>
              </a:xfrm>
            </p:grpSpPr>
            <p:pic>
              <p:nvPicPr>
                <p:cNvPr id="36" name="Picture 35">
                  <a:extLst>
                    <a:ext uri="{FF2B5EF4-FFF2-40B4-BE49-F238E27FC236}">
                      <a16:creationId xmlns:a16="http://schemas.microsoft.com/office/drawing/2014/main" id="{CC18C45A-7B73-2AEF-47B5-1CC15E14B4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6805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37" name="Picture 36">
                  <a:extLst>
                    <a:ext uri="{FF2B5EF4-FFF2-40B4-BE49-F238E27FC236}">
                      <a16:creationId xmlns:a16="http://schemas.microsoft.com/office/drawing/2014/main" id="{A2D51190-A001-4D34-374B-7445DB5E5D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9255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38" name="Picture 37">
                  <a:extLst>
                    <a:ext uri="{FF2B5EF4-FFF2-40B4-BE49-F238E27FC236}">
                      <a16:creationId xmlns:a16="http://schemas.microsoft.com/office/drawing/2014/main" id="{39CF61EB-4B59-A363-960B-BECB5BFC70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1706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39" name="Picture 38">
                  <a:extLst>
                    <a:ext uri="{FF2B5EF4-FFF2-40B4-BE49-F238E27FC236}">
                      <a16:creationId xmlns:a16="http://schemas.microsoft.com/office/drawing/2014/main" id="{A628A77A-C6C9-52C4-B509-B5AD48BC7F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4156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40" name="Picture 39">
                  <a:extLst>
                    <a:ext uri="{FF2B5EF4-FFF2-40B4-BE49-F238E27FC236}">
                      <a16:creationId xmlns:a16="http://schemas.microsoft.com/office/drawing/2014/main" id="{93E7C7C5-1A96-2AA2-A045-B53DB176C5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66068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41" name="Picture 40">
                  <a:extLst>
                    <a:ext uri="{FF2B5EF4-FFF2-40B4-BE49-F238E27FC236}">
                      <a16:creationId xmlns:a16="http://schemas.microsoft.com/office/drawing/2014/main" id="{D95647FD-9A70-AB56-C444-7C3C2FFFD8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9057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42" name="Picture 41">
                  <a:extLst>
                    <a:ext uri="{FF2B5EF4-FFF2-40B4-BE49-F238E27FC236}">
                      <a16:creationId xmlns:a16="http://schemas.microsoft.com/office/drawing/2014/main" id="{7A756811-CEF8-2177-2E8F-524C568C8F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1507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43" name="Picture 42">
                  <a:extLst>
                    <a:ext uri="{FF2B5EF4-FFF2-40B4-BE49-F238E27FC236}">
                      <a16:creationId xmlns:a16="http://schemas.microsoft.com/office/drawing/2014/main" id="{F2CE4BE1-AF93-5748-8F4F-7D4861F609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3958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44" name="Picture 43">
                  <a:extLst>
                    <a:ext uri="{FF2B5EF4-FFF2-40B4-BE49-F238E27FC236}">
                      <a16:creationId xmlns:a16="http://schemas.microsoft.com/office/drawing/2014/main" id="{66609AD4-45B1-B7AA-72E8-17CA69DE25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6408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45" name="Picture 44">
                  <a:extLst>
                    <a:ext uri="{FF2B5EF4-FFF2-40B4-BE49-F238E27FC236}">
                      <a16:creationId xmlns:a16="http://schemas.microsoft.com/office/drawing/2014/main" id="{2543508D-C5AE-4B9C-9BD5-CAA7A10746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885885"/>
                  <a:ext cx="1769505" cy="2570480"/>
                </a:xfrm>
                <a:prstGeom prst="rect">
                  <a:avLst/>
                </a:prstGeom>
              </p:spPr>
            </p:pic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535A9BE2-F613-EBDB-20DE-D9BF91158B1A}"/>
                  </a:ext>
                </a:extLst>
              </p:cNvPr>
              <p:cNvGrpSpPr/>
              <p:nvPr/>
            </p:nvGrpSpPr>
            <p:grpSpPr>
              <a:xfrm>
                <a:off x="6756080" y="1690688"/>
                <a:ext cx="1189873" cy="3211428"/>
                <a:chOff x="5689600" y="1680528"/>
                <a:chExt cx="1769505" cy="4775837"/>
              </a:xfrm>
            </p:grpSpPr>
            <p:pic>
              <p:nvPicPr>
                <p:cNvPr id="47" name="Picture 46">
                  <a:extLst>
                    <a:ext uri="{FF2B5EF4-FFF2-40B4-BE49-F238E27FC236}">
                      <a16:creationId xmlns:a16="http://schemas.microsoft.com/office/drawing/2014/main" id="{E2E014E5-5CDF-4BF0-E980-53C60A0647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6805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48" name="Picture 47">
                  <a:extLst>
                    <a:ext uri="{FF2B5EF4-FFF2-40B4-BE49-F238E27FC236}">
                      <a16:creationId xmlns:a16="http://schemas.microsoft.com/office/drawing/2014/main" id="{4821DB71-322E-1C0D-793B-9DEB919356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9255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49" name="Picture 48">
                  <a:extLst>
                    <a:ext uri="{FF2B5EF4-FFF2-40B4-BE49-F238E27FC236}">
                      <a16:creationId xmlns:a16="http://schemas.microsoft.com/office/drawing/2014/main" id="{A011D9D9-A3C2-5AA7-6AA8-F7365CBEBF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1706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50" name="Picture 49">
                  <a:extLst>
                    <a:ext uri="{FF2B5EF4-FFF2-40B4-BE49-F238E27FC236}">
                      <a16:creationId xmlns:a16="http://schemas.microsoft.com/office/drawing/2014/main" id="{8F9740D1-B6E1-D598-5FC8-7B5E02492C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4156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51" name="Picture 50">
                  <a:extLst>
                    <a:ext uri="{FF2B5EF4-FFF2-40B4-BE49-F238E27FC236}">
                      <a16:creationId xmlns:a16="http://schemas.microsoft.com/office/drawing/2014/main" id="{A21B82DD-44F0-A694-D51C-1351C36721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66068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3CEBE4E5-0638-0226-67FE-0C71962E46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9057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53" name="Picture 52">
                  <a:extLst>
                    <a:ext uri="{FF2B5EF4-FFF2-40B4-BE49-F238E27FC236}">
                      <a16:creationId xmlns:a16="http://schemas.microsoft.com/office/drawing/2014/main" id="{A057D365-67C0-D261-34D3-DB876A53BD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1507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54" name="Picture 53">
                  <a:extLst>
                    <a:ext uri="{FF2B5EF4-FFF2-40B4-BE49-F238E27FC236}">
                      <a16:creationId xmlns:a16="http://schemas.microsoft.com/office/drawing/2014/main" id="{8BFF6E1E-FAEB-24B7-6E22-D6697F7258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3958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55" name="Picture 54">
                  <a:extLst>
                    <a:ext uri="{FF2B5EF4-FFF2-40B4-BE49-F238E27FC236}">
                      <a16:creationId xmlns:a16="http://schemas.microsoft.com/office/drawing/2014/main" id="{BFCA36DE-DFEE-9F34-0915-E917F57B7F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6408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56" name="Picture 55">
                  <a:extLst>
                    <a:ext uri="{FF2B5EF4-FFF2-40B4-BE49-F238E27FC236}">
                      <a16:creationId xmlns:a16="http://schemas.microsoft.com/office/drawing/2014/main" id="{65144C0A-708C-2C58-3D1B-839D976EAF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885885"/>
                  <a:ext cx="1769505" cy="2570480"/>
                </a:xfrm>
                <a:prstGeom prst="rect">
                  <a:avLst/>
                </a:prstGeom>
              </p:spPr>
            </p:pic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C753B7FA-7008-A9FA-B10F-40C8492E578B}"/>
                  </a:ext>
                </a:extLst>
              </p:cNvPr>
              <p:cNvGrpSpPr/>
              <p:nvPr/>
            </p:nvGrpSpPr>
            <p:grpSpPr>
              <a:xfrm>
                <a:off x="7325477" y="1700848"/>
                <a:ext cx="1189873" cy="3211428"/>
                <a:chOff x="5689600" y="1680528"/>
                <a:chExt cx="1769505" cy="4775837"/>
              </a:xfrm>
            </p:grpSpPr>
            <p:pic>
              <p:nvPicPr>
                <p:cNvPr id="58" name="Picture 57">
                  <a:extLst>
                    <a:ext uri="{FF2B5EF4-FFF2-40B4-BE49-F238E27FC236}">
                      <a16:creationId xmlns:a16="http://schemas.microsoft.com/office/drawing/2014/main" id="{56F31E3A-458A-7ED8-96EE-D7A5BFFA89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6805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59" name="Picture 58">
                  <a:extLst>
                    <a:ext uri="{FF2B5EF4-FFF2-40B4-BE49-F238E27FC236}">
                      <a16:creationId xmlns:a16="http://schemas.microsoft.com/office/drawing/2014/main" id="{DB748668-D1C4-D452-C837-41DD81478F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9255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60" name="Picture 59">
                  <a:extLst>
                    <a:ext uri="{FF2B5EF4-FFF2-40B4-BE49-F238E27FC236}">
                      <a16:creationId xmlns:a16="http://schemas.microsoft.com/office/drawing/2014/main" id="{E1BB2C9D-61C1-1BC0-1D1C-041AF59AC2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1706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61" name="Picture 60">
                  <a:extLst>
                    <a:ext uri="{FF2B5EF4-FFF2-40B4-BE49-F238E27FC236}">
                      <a16:creationId xmlns:a16="http://schemas.microsoft.com/office/drawing/2014/main" id="{B5D7700A-5323-0C2C-6CDC-E7754F09B5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4156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62" name="Picture 61">
                  <a:extLst>
                    <a:ext uri="{FF2B5EF4-FFF2-40B4-BE49-F238E27FC236}">
                      <a16:creationId xmlns:a16="http://schemas.microsoft.com/office/drawing/2014/main" id="{130EF0C8-1673-F7E2-6F9A-BAA5590BBC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66068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63" name="Picture 62">
                  <a:extLst>
                    <a:ext uri="{FF2B5EF4-FFF2-40B4-BE49-F238E27FC236}">
                      <a16:creationId xmlns:a16="http://schemas.microsoft.com/office/drawing/2014/main" id="{05937117-D869-7BD5-F6AA-8D926455DE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9057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64" name="Picture 63">
                  <a:extLst>
                    <a:ext uri="{FF2B5EF4-FFF2-40B4-BE49-F238E27FC236}">
                      <a16:creationId xmlns:a16="http://schemas.microsoft.com/office/drawing/2014/main" id="{B0FD432D-8292-4D11-1987-2683CD35E2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1507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A19A419D-F954-7E59-D748-7714D64FD1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3958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66" name="Picture 65">
                  <a:extLst>
                    <a:ext uri="{FF2B5EF4-FFF2-40B4-BE49-F238E27FC236}">
                      <a16:creationId xmlns:a16="http://schemas.microsoft.com/office/drawing/2014/main" id="{767A9D6C-E8A7-D103-FD73-82FE7F61C0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6408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67" name="Picture 66">
                  <a:extLst>
                    <a:ext uri="{FF2B5EF4-FFF2-40B4-BE49-F238E27FC236}">
                      <a16:creationId xmlns:a16="http://schemas.microsoft.com/office/drawing/2014/main" id="{5BDA1D01-B1C5-B8B4-C8DD-8B9AC192DC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885885"/>
                  <a:ext cx="1769505" cy="257048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8B897DC8-8A5B-C46A-0203-F3EC0C371182}"/>
                </a:ext>
              </a:extLst>
            </p:cNvPr>
            <p:cNvGrpSpPr/>
            <p:nvPr/>
          </p:nvGrpSpPr>
          <p:grpSpPr>
            <a:xfrm>
              <a:off x="5749803" y="3338149"/>
              <a:ext cx="2765547" cy="3221588"/>
              <a:chOff x="5749803" y="1690688"/>
              <a:chExt cx="2765547" cy="3221588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E40645A-1985-6ADA-42EE-F24B55E503B9}"/>
                  </a:ext>
                </a:extLst>
              </p:cNvPr>
              <p:cNvGrpSpPr/>
              <p:nvPr/>
            </p:nvGrpSpPr>
            <p:grpSpPr>
              <a:xfrm>
                <a:off x="5749803" y="1690688"/>
                <a:ext cx="1189873" cy="3211428"/>
                <a:chOff x="5689600" y="1680528"/>
                <a:chExt cx="1769505" cy="4775837"/>
              </a:xfrm>
            </p:grpSpPr>
            <p:pic>
              <p:nvPicPr>
                <p:cNvPr id="104" name="Picture 103">
                  <a:extLst>
                    <a:ext uri="{FF2B5EF4-FFF2-40B4-BE49-F238E27FC236}">
                      <a16:creationId xmlns:a16="http://schemas.microsoft.com/office/drawing/2014/main" id="{821B8254-1C51-E291-CC74-B864257C66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6805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05" name="Picture 104">
                  <a:extLst>
                    <a:ext uri="{FF2B5EF4-FFF2-40B4-BE49-F238E27FC236}">
                      <a16:creationId xmlns:a16="http://schemas.microsoft.com/office/drawing/2014/main" id="{50FD3C5C-4946-EFE2-2806-ED008F5624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9255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06" name="Picture 105">
                  <a:extLst>
                    <a:ext uri="{FF2B5EF4-FFF2-40B4-BE49-F238E27FC236}">
                      <a16:creationId xmlns:a16="http://schemas.microsoft.com/office/drawing/2014/main" id="{5D1C1072-E014-4BA4-7479-D8C0C3AD77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1706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07" name="Picture 106">
                  <a:extLst>
                    <a:ext uri="{FF2B5EF4-FFF2-40B4-BE49-F238E27FC236}">
                      <a16:creationId xmlns:a16="http://schemas.microsoft.com/office/drawing/2014/main" id="{F20EAE49-99DF-9F2E-0B9C-F5D9DE0D81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4156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08" name="Picture 107">
                  <a:extLst>
                    <a:ext uri="{FF2B5EF4-FFF2-40B4-BE49-F238E27FC236}">
                      <a16:creationId xmlns:a16="http://schemas.microsoft.com/office/drawing/2014/main" id="{0DEA800F-BE4C-4CE6-04F2-A942B547FA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66068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09" name="Picture 108">
                  <a:extLst>
                    <a:ext uri="{FF2B5EF4-FFF2-40B4-BE49-F238E27FC236}">
                      <a16:creationId xmlns:a16="http://schemas.microsoft.com/office/drawing/2014/main" id="{C336F216-2887-B2BD-9475-4453A81E3B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9057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10" name="Picture 109">
                  <a:extLst>
                    <a:ext uri="{FF2B5EF4-FFF2-40B4-BE49-F238E27FC236}">
                      <a16:creationId xmlns:a16="http://schemas.microsoft.com/office/drawing/2014/main" id="{E6670BC8-59E8-EBCB-219A-46260A2A4C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1507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11" name="Picture 110">
                  <a:extLst>
                    <a:ext uri="{FF2B5EF4-FFF2-40B4-BE49-F238E27FC236}">
                      <a16:creationId xmlns:a16="http://schemas.microsoft.com/office/drawing/2014/main" id="{590A723F-BD8B-17F4-ADB0-A5701E12D8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3958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12" name="Picture 111">
                  <a:extLst>
                    <a:ext uri="{FF2B5EF4-FFF2-40B4-BE49-F238E27FC236}">
                      <a16:creationId xmlns:a16="http://schemas.microsoft.com/office/drawing/2014/main" id="{4079E385-838E-DE68-C075-47039FDD6A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6408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13" name="Picture 112">
                  <a:extLst>
                    <a:ext uri="{FF2B5EF4-FFF2-40B4-BE49-F238E27FC236}">
                      <a16:creationId xmlns:a16="http://schemas.microsoft.com/office/drawing/2014/main" id="{D2D60C47-885E-6CAF-01F6-5F1FBBA671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885885"/>
                  <a:ext cx="1769505" cy="2570480"/>
                </a:xfrm>
                <a:prstGeom prst="rect">
                  <a:avLst/>
                </a:prstGeom>
              </p:spPr>
            </p:pic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734D70ED-B2A4-DD7C-0429-02BEB64672BF}"/>
                  </a:ext>
                </a:extLst>
              </p:cNvPr>
              <p:cNvGrpSpPr/>
              <p:nvPr/>
            </p:nvGrpSpPr>
            <p:grpSpPr>
              <a:xfrm>
                <a:off x="6186683" y="1690688"/>
                <a:ext cx="1189873" cy="3211428"/>
                <a:chOff x="5689600" y="1680528"/>
                <a:chExt cx="1769505" cy="4775837"/>
              </a:xfrm>
            </p:grpSpPr>
            <p:pic>
              <p:nvPicPr>
                <p:cNvPr id="94" name="Picture 93">
                  <a:extLst>
                    <a:ext uri="{FF2B5EF4-FFF2-40B4-BE49-F238E27FC236}">
                      <a16:creationId xmlns:a16="http://schemas.microsoft.com/office/drawing/2014/main" id="{BC3836F3-E901-5C91-A108-9DB484E968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6805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95" name="Picture 94">
                  <a:extLst>
                    <a:ext uri="{FF2B5EF4-FFF2-40B4-BE49-F238E27FC236}">
                      <a16:creationId xmlns:a16="http://schemas.microsoft.com/office/drawing/2014/main" id="{038230E2-5F85-B683-2A8E-E5D2847788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9255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96" name="Picture 95">
                  <a:extLst>
                    <a:ext uri="{FF2B5EF4-FFF2-40B4-BE49-F238E27FC236}">
                      <a16:creationId xmlns:a16="http://schemas.microsoft.com/office/drawing/2014/main" id="{2CEB6F2E-2846-C685-2ED9-7628BA525E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1706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97" name="Picture 96">
                  <a:extLst>
                    <a:ext uri="{FF2B5EF4-FFF2-40B4-BE49-F238E27FC236}">
                      <a16:creationId xmlns:a16="http://schemas.microsoft.com/office/drawing/2014/main" id="{B965C730-EAE8-E4FA-8A06-2E108F9010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4156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98" name="Picture 97">
                  <a:extLst>
                    <a:ext uri="{FF2B5EF4-FFF2-40B4-BE49-F238E27FC236}">
                      <a16:creationId xmlns:a16="http://schemas.microsoft.com/office/drawing/2014/main" id="{A52A6FA6-F1EF-2D9C-88C7-DD508C4472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66068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99" name="Picture 98">
                  <a:extLst>
                    <a:ext uri="{FF2B5EF4-FFF2-40B4-BE49-F238E27FC236}">
                      <a16:creationId xmlns:a16="http://schemas.microsoft.com/office/drawing/2014/main" id="{D72BDB5C-BC81-A304-90B3-C8D0367AE2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9057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00" name="Picture 99">
                  <a:extLst>
                    <a:ext uri="{FF2B5EF4-FFF2-40B4-BE49-F238E27FC236}">
                      <a16:creationId xmlns:a16="http://schemas.microsoft.com/office/drawing/2014/main" id="{52ECD057-B181-52D4-B07D-9A2503457A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1507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01" name="Picture 100">
                  <a:extLst>
                    <a:ext uri="{FF2B5EF4-FFF2-40B4-BE49-F238E27FC236}">
                      <a16:creationId xmlns:a16="http://schemas.microsoft.com/office/drawing/2014/main" id="{46F9B559-01CD-D0B7-23F2-43AE1F478E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3958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02" name="Picture 101">
                  <a:extLst>
                    <a:ext uri="{FF2B5EF4-FFF2-40B4-BE49-F238E27FC236}">
                      <a16:creationId xmlns:a16="http://schemas.microsoft.com/office/drawing/2014/main" id="{D343A093-F26A-9C60-F09D-6594AD1A97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6408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103" name="Picture 102">
                  <a:extLst>
                    <a:ext uri="{FF2B5EF4-FFF2-40B4-BE49-F238E27FC236}">
                      <a16:creationId xmlns:a16="http://schemas.microsoft.com/office/drawing/2014/main" id="{1B2CED4B-03B2-27F8-C393-9EC585907C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885885"/>
                  <a:ext cx="1769505" cy="2570480"/>
                </a:xfrm>
                <a:prstGeom prst="rect">
                  <a:avLst/>
                </a:prstGeom>
              </p:spPr>
            </p:pic>
          </p:grp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D098B225-E33B-8A9F-018F-2A36068B8D34}"/>
                  </a:ext>
                </a:extLst>
              </p:cNvPr>
              <p:cNvGrpSpPr/>
              <p:nvPr/>
            </p:nvGrpSpPr>
            <p:grpSpPr>
              <a:xfrm>
                <a:off x="6756080" y="1690688"/>
                <a:ext cx="1189873" cy="3211428"/>
                <a:chOff x="5689600" y="1680528"/>
                <a:chExt cx="1769505" cy="4775837"/>
              </a:xfrm>
            </p:grpSpPr>
            <p:pic>
              <p:nvPicPr>
                <p:cNvPr id="84" name="Picture 83">
                  <a:extLst>
                    <a:ext uri="{FF2B5EF4-FFF2-40B4-BE49-F238E27FC236}">
                      <a16:creationId xmlns:a16="http://schemas.microsoft.com/office/drawing/2014/main" id="{2C292D7F-AD8C-9D05-D809-4457F866F8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6805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85" name="Picture 84">
                  <a:extLst>
                    <a:ext uri="{FF2B5EF4-FFF2-40B4-BE49-F238E27FC236}">
                      <a16:creationId xmlns:a16="http://schemas.microsoft.com/office/drawing/2014/main" id="{C0EF1370-6EF0-9F0B-29AB-7047AD700C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9255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86" name="Picture 85">
                  <a:extLst>
                    <a:ext uri="{FF2B5EF4-FFF2-40B4-BE49-F238E27FC236}">
                      <a16:creationId xmlns:a16="http://schemas.microsoft.com/office/drawing/2014/main" id="{567C8532-E80F-1E40-1663-0050BF6FAE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1706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87" name="Picture 86">
                  <a:extLst>
                    <a:ext uri="{FF2B5EF4-FFF2-40B4-BE49-F238E27FC236}">
                      <a16:creationId xmlns:a16="http://schemas.microsoft.com/office/drawing/2014/main" id="{68A5CE58-107E-5C9E-22A8-1DCCB76A83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4156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88" name="Picture 87">
                  <a:extLst>
                    <a:ext uri="{FF2B5EF4-FFF2-40B4-BE49-F238E27FC236}">
                      <a16:creationId xmlns:a16="http://schemas.microsoft.com/office/drawing/2014/main" id="{D228E439-8E7A-CCC9-8BEE-0622CC9158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66068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89" name="Picture 88">
                  <a:extLst>
                    <a:ext uri="{FF2B5EF4-FFF2-40B4-BE49-F238E27FC236}">
                      <a16:creationId xmlns:a16="http://schemas.microsoft.com/office/drawing/2014/main" id="{AABB2EF6-8167-CDE3-FCED-D05FF9144A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9057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90" name="Picture 89">
                  <a:extLst>
                    <a:ext uri="{FF2B5EF4-FFF2-40B4-BE49-F238E27FC236}">
                      <a16:creationId xmlns:a16="http://schemas.microsoft.com/office/drawing/2014/main" id="{A32478F3-FD86-9700-75E4-E3669454F5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1507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91" name="Picture 90">
                  <a:extLst>
                    <a:ext uri="{FF2B5EF4-FFF2-40B4-BE49-F238E27FC236}">
                      <a16:creationId xmlns:a16="http://schemas.microsoft.com/office/drawing/2014/main" id="{A0EC2D4B-8B0D-7557-DB58-850858E3DF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3958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92" name="Picture 91">
                  <a:extLst>
                    <a:ext uri="{FF2B5EF4-FFF2-40B4-BE49-F238E27FC236}">
                      <a16:creationId xmlns:a16="http://schemas.microsoft.com/office/drawing/2014/main" id="{C969774A-C428-7752-E7F7-2D6CBAF7FC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6408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93" name="Picture 92">
                  <a:extLst>
                    <a:ext uri="{FF2B5EF4-FFF2-40B4-BE49-F238E27FC236}">
                      <a16:creationId xmlns:a16="http://schemas.microsoft.com/office/drawing/2014/main" id="{90317533-04C1-4E08-07A6-B0B3E38D26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885885"/>
                  <a:ext cx="1769505" cy="2570480"/>
                </a:xfrm>
                <a:prstGeom prst="rect">
                  <a:avLst/>
                </a:prstGeom>
              </p:spPr>
            </p:pic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51AC78AE-590F-1F7D-155C-1EFD627EED3B}"/>
                  </a:ext>
                </a:extLst>
              </p:cNvPr>
              <p:cNvGrpSpPr/>
              <p:nvPr/>
            </p:nvGrpSpPr>
            <p:grpSpPr>
              <a:xfrm>
                <a:off x="7325477" y="1700848"/>
                <a:ext cx="1189873" cy="3211428"/>
                <a:chOff x="5689600" y="1680528"/>
                <a:chExt cx="1769505" cy="4775837"/>
              </a:xfrm>
            </p:grpSpPr>
            <p:pic>
              <p:nvPicPr>
                <p:cNvPr id="74" name="Picture 73">
                  <a:extLst>
                    <a:ext uri="{FF2B5EF4-FFF2-40B4-BE49-F238E27FC236}">
                      <a16:creationId xmlns:a16="http://schemas.microsoft.com/office/drawing/2014/main" id="{7321F5FE-856B-6AF9-A437-F17C3AFBB8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6805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75" name="Picture 74">
                  <a:extLst>
                    <a:ext uri="{FF2B5EF4-FFF2-40B4-BE49-F238E27FC236}">
                      <a16:creationId xmlns:a16="http://schemas.microsoft.com/office/drawing/2014/main" id="{0A96F669-6BA5-9C85-5040-9F49574922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19255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76" name="Picture 75">
                  <a:extLst>
                    <a:ext uri="{FF2B5EF4-FFF2-40B4-BE49-F238E27FC236}">
                      <a16:creationId xmlns:a16="http://schemas.microsoft.com/office/drawing/2014/main" id="{98C16146-4E7F-CD86-830E-61641A9376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1706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77" name="Picture 76">
                  <a:extLst>
                    <a:ext uri="{FF2B5EF4-FFF2-40B4-BE49-F238E27FC236}">
                      <a16:creationId xmlns:a16="http://schemas.microsoft.com/office/drawing/2014/main" id="{810CF9DC-1C1C-DC2B-0827-A388422196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4156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78" name="Picture 77">
                  <a:extLst>
                    <a:ext uri="{FF2B5EF4-FFF2-40B4-BE49-F238E27FC236}">
                      <a16:creationId xmlns:a16="http://schemas.microsoft.com/office/drawing/2014/main" id="{17D836AB-17EB-C82F-BADA-5407F2C0C0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66068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79" name="Picture 78">
                  <a:extLst>
                    <a:ext uri="{FF2B5EF4-FFF2-40B4-BE49-F238E27FC236}">
                      <a16:creationId xmlns:a16="http://schemas.microsoft.com/office/drawing/2014/main" id="{175ADE29-C2FA-AB59-89B9-28A83B6CC8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290572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80" name="Picture 79">
                  <a:extLst>
                    <a:ext uri="{FF2B5EF4-FFF2-40B4-BE49-F238E27FC236}">
                      <a16:creationId xmlns:a16="http://schemas.microsoft.com/office/drawing/2014/main" id="{8C42C572-9B1E-CABB-9304-86819019D7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15076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81" name="Picture 80">
                  <a:extLst>
                    <a:ext uri="{FF2B5EF4-FFF2-40B4-BE49-F238E27FC236}">
                      <a16:creationId xmlns:a16="http://schemas.microsoft.com/office/drawing/2014/main" id="{1AE61631-7092-2B6F-0999-F4E9337B55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39580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82" name="Picture 81">
                  <a:extLst>
                    <a:ext uri="{FF2B5EF4-FFF2-40B4-BE49-F238E27FC236}">
                      <a16:creationId xmlns:a16="http://schemas.microsoft.com/office/drawing/2014/main" id="{273E65B3-434A-E0CD-3B64-9933FF1666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640848"/>
                  <a:ext cx="1769505" cy="2570480"/>
                </a:xfrm>
                <a:prstGeom prst="rect">
                  <a:avLst/>
                </a:prstGeom>
              </p:spPr>
            </p:pic>
            <p:pic>
              <p:nvPicPr>
                <p:cNvPr id="83" name="Picture 82">
                  <a:extLst>
                    <a:ext uri="{FF2B5EF4-FFF2-40B4-BE49-F238E27FC236}">
                      <a16:creationId xmlns:a16="http://schemas.microsoft.com/office/drawing/2014/main" id="{3AE34B86-EBE2-957B-FF5F-5CC00AC717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4000" b="83600" l="25400" r="73400">
                              <a14:foregroundMark x1="26400" y1="23400" x2="38600" y2="16400"/>
                              <a14:foregroundMark x1="38600" y1="16400" x2="54000" y2="17200"/>
                              <a14:foregroundMark x1="27000" y1="31600" x2="26400" y2="16800"/>
                              <a14:foregroundMark x1="26400" y1="16800" x2="37400" y2="13600"/>
                              <a14:foregroundMark x1="37400" y1="13600" x2="67800" y2="14200"/>
                              <a14:foregroundMark x1="67800" y1="14200" x2="71800" y2="26000"/>
                              <a14:foregroundMark x1="71800" y1="26000" x2="70200" y2="34200"/>
                              <a14:foregroundMark x1="25400" y1="14200" x2="28200" y2="14000"/>
                              <a14:foregroundMark x1="28600" y1="82600" x2="33400" y2="83600"/>
                              <a14:foregroundMark x1="73400" y1="14000" x2="73400" y2="1700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20560" t="8634" r="22693" b="8933"/>
                <a:stretch>
                  <a:fillRect/>
                </a:stretch>
              </p:blipFill>
              <p:spPr>
                <a:xfrm>
                  <a:off x="5689600" y="3885885"/>
                  <a:ext cx="1769505" cy="2570480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393215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67AF6-3CE6-DEF8-A0CE-2B121267B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You and DRAC: An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74E10-3D97-E253-24D0-265707670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3740150" cy="43513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b="1" u="sng" dirty="0"/>
              <a:t>D</a:t>
            </a:r>
            <a:r>
              <a:rPr lang="en-CA" b="1" dirty="0"/>
              <a:t>istributed </a:t>
            </a:r>
            <a:r>
              <a:rPr lang="en-CA" b="1" u="sng" dirty="0"/>
              <a:t>R</a:t>
            </a:r>
            <a:r>
              <a:rPr lang="en-CA" b="1" dirty="0"/>
              <a:t>ecipe </a:t>
            </a:r>
            <a:r>
              <a:rPr lang="en-CA" b="1" u="sng" dirty="0"/>
              <a:t>A</a:t>
            </a:r>
            <a:r>
              <a:rPr lang="en-CA" b="1" dirty="0"/>
              <a:t>cceleration </a:t>
            </a:r>
            <a:r>
              <a:rPr lang="en-CA" b="1" u="sng" dirty="0"/>
              <a:t>C</a:t>
            </a:r>
            <a:r>
              <a:rPr lang="en-CA" b="1" dirty="0"/>
              <a:t>entre (DRAC):</a:t>
            </a:r>
          </a:p>
          <a:p>
            <a:r>
              <a:rPr lang="en-US" dirty="0"/>
              <a:t>Cooking service that addresses your limitations</a:t>
            </a:r>
          </a:p>
          <a:p>
            <a:pPr lvl="1"/>
            <a:r>
              <a:rPr lang="en-US" dirty="0"/>
              <a:t>100,000+ chefs</a:t>
            </a:r>
          </a:p>
          <a:p>
            <a:pPr lvl="1"/>
            <a:r>
              <a:rPr lang="en-US" dirty="0"/>
              <a:t>Large scale kitchen equipment/storage </a:t>
            </a:r>
          </a:p>
          <a:p>
            <a:r>
              <a:rPr lang="en-US" dirty="0"/>
              <a:t>Can complete your cooking task efficiently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9D5BF9-3C3D-16A4-C5E3-ADBFA08ED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2" y="3703798"/>
            <a:ext cx="3740150" cy="21038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061590-1A97-140C-6F75-3B877520D5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71" t="3920" r="8334" b="45315"/>
          <a:stretch>
            <a:fillRect/>
          </a:stretch>
        </p:blipFill>
        <p:spPr>
          <a:xfrm>
            <a:off x="4775200" y="1825627"/>
            <a:ext cx="3740150" cy="139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45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46F50-2AC4-49B6-46A9-6E91EF227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DRAC Service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E32F2-24FC-8468-2A25-43E573FC1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4014470" cy="4351335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You must prepare and deliver your ingredients and recipe yourself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To schedule a cooking job, you must submit a job request to the DRAC manager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When the job is finished, you must pick up the final product yourself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044B00-4CF3-B941-10A9-5818FEA10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646976"/>
            <a:ext cx="3512820" cy="32137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566C47-1B0A-458F-2D12-B01DADA9F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625" b="95438" l="10000" r="90000">
                        <a14:foregroundMark x1="28938" y1="21625" x2="41375" y2="21375"/>
                        <a14:foregroundMark x1="41375" y1="21375" x2="54000" y2="22063"/>
                        <a14:foregroundMark x1="64938" y1="7875" x2="67188" y2="8438"/>
                        <a14:foregroundMark x1="70000" y1="8750" x2="70000" y2="8750"/>
                        <a14:foregroundMark x1="54563" y1="5625" x2="58000" y2="5938"/>
                        <a14:foregroundMark x1="37688" y1="7250" x2="44688" y2="6250"/>
                        <a14:foregroundMark x1="28250" y1="9188" x2="37438" y2="7438"/>
                        <a14:foregroundMark x1="26438" y1="14250" x2="27750" y2="10250"/>
                        <a14:foregroundMark x1="25875" y1="13063" x2="28375" y2="10250"/>
                        <a14:foregroundMark x1="37688" y1="91688" x2="56250" y2="92000"/>
                        <a14:foregroundMark x1="47188" y1="95125" x2="52063" y2="95438"/>
                        <a14:foregroundMark x1="30750" y1="39250" x2="29250" y2="394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890691">
            <a:off x="6011227" y="1708844"/>
            <a:ext cx="1548767" cy="1548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A7E321-2226-B707-B710-4C28D270CFCC}"/>
              </a:ext>
            </a:extLst>
          </p:cNvPr>
          <p:cNvSpPr txBox="1"/>
          <p:nvPr/>
        </p:nvSpPr>
        <p:spPr>
          <a:xfrm rot="20632904">
            <a:off x="6983237" y="4069124"/>
            <a:ext cx="71897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DRAC</a:t>
            </a:r>
          </a:p>
        </p:txBody>
      </p:sp>
    </p:spTree>
    <p:extLst>
      <p:ext uri="{BB962C8B-B14F-4D97-AF65-F5344CB8AC3E}">
        <p14:creationId xmlns:p14="http://schemas.microsoft.com/office/powerpoint/2010/main" val="2035948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B470D-A037-9D2E-1CC3-54C84A67F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You and DRAC Analogy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1DFEE-0458-732D-FDED-3B9659A07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825627"/>
            <a:ext cx="3725636" cy="435133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You and your regular kitchen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itchFamily="2" charset="2"/>
              </a:rPr>
              <a:t>Ingredients</a:t>
            </a: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pPr marL="514350" indent="-514350">
              <a:buAutoNum type="arabicPeriod" startAt="3"/>
            </a:pPr>
            <a:r>
              <a:rPr lang="en-US" dirty="0">
                <a:sym typeface="Wingdings" pitchFamily="2" charset="2"/>
              </a:rPr>
              <a:t>Recipe</a:t>
            </a:r>
          </a:p>
          <a:p>
            <a:pPr marL="514350" indent="-514350">
              <a:buAutoNum type="arabicPeriod" startAt="3"/>
            </a:pPr>
            <a:endParaRPr lang="en-US" dirty="0">
              <a:sym typeface="Wingdings" pitchFamily="2" charset="2"/>
            </a:endParaRPr>
          </a:p>
          <a:p>
            <a:pPr marL="514350" indent="-514350">
              <a:buAutoNum type="arabicPeriod" startAt="3"/>
            </a:pPr>
            <a:r>
              <a:rPr lang="en-US" dirty="0">
                <a:sym typeface="Wingdings" pitchFamily="2" charset="2"/>
              </a:rPr>
              <a:t>Distributed Recipe Acceleration Centre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CE7ACEC-B645-B4C8-CCA9-C8FCC2DC1BC3}"/>
              </a:ext>
            </a:extLst>
          </p:cNvPr>
          <p:cNvSpPr txBox="1">
            <a:spLocks/>
          </p:cNvSpPr>
          <p:nvPr/>
        </p:nvSpPr>
        <p:spPr>
          <a:xfrm>
            <a:off x="5077279" y="1825627"/>
            <a:ext cx="3725636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lphaUcPeriod"/>
            </a:pPr>
            <a:r>
              <a:rPr lang="en-US" dirty="0">
                <a:sym typeface="Wingdings" pitchFamily="2" charset="2"/>
              </a:rPr>
              <a:t>Digital Research Alliance of Canada</a:t>
            </a:r>
          </a:p>
          <a:p>
            <a:pPr marL="514350" indent="-514350">
              <a:buFont typeface="+mj-lt"/>
              <a:buAutoNum type="alphaUcPeriod"/>
            </a:pPr>
            <a:endParaRPr lang="en-US" dirty="0">
              <a:sym typeface="Wingdings" pitchFamily="2" charset="2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sym typeface="Wingdings" pitchFamily="2" charset="2"/>
              </a:rPr>
              <a:t>Code</a:t>
            </a:r>
          </a:p>
          <a:p>
            <a:pPr marL="514350" indent="-514350">
              <a:buFont typeface="+mj-lt"/>
              <a:buAutoNum type="alphaUcPeriod"/>
            </a:pPr>
            <a:endParaRPr lang="en-US" dirty="0">
              <a:sym typeface="Wingdings" pitchFamily="2" charset="2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sym typeface="Wingdings" pitchFamily="2" charset="2"/>
              </a:rPr>
              <a:t>Input data</a:t>
            </a:r>
          </a:p>
          <a:p>
            <a:pPr marL="514350" indent="-514350">
              <a:buFont typeface="+mj-lt"/>
              <a:buAutoNum type="alphaUcPeriod"/>
            </a:pPr>
            <a:endParaRPr lang="en-US" dirty="0">
              <a:sym typeface="Wingdings" pitchFamily="2" charset="2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sym typeface="Wingdings" pitchFamily="2" charset="2"/>
              </a:rPr>
              <a:t>You and your regular computer</a:t>
            </a: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pPr marL="514350" indent="-514350">
              <a:buFont typeface="+mj-lt"/>
              <a:buAutoNum type="alphaUcPeriod"/>
            </a:pPr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E277FB-54BA-1A9A-A3A6-A36746427857}"/>
              </a:ext>
            </a:extLst>
          </p:cNvPr>
          <p:cNvCxnSpPr>
            <a:cxnSpLocks/>
          </p:cNvCxnSpPr>
          <p:nvPr/>
        </p:nvCxnSpPr>
        <p:spPr>
          <a:xfrm>
            <a:off x="3757808" y="2392471"/>
            <a:ext cx="1319471" cy="313747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4C1E3C1-363B-78A2-A9AE-A482D049B25C}"/>
              </a:ext>
            </a:extLst>
          </p:cNvPr>
          <p:cNvCxnSpPr>
            <a:cxnSpLocks/>
          </p:cNvCxnSpPr>
          <p:nvPr/>
        </p:nvCxnSpPr>
        <p:spPr>
          <a:xfrm>
            <a:off x="3004457" y="3541486"/>
            <a:ext cx="2072822" cy="94342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AD10DD-F025-BC01-18CA-C26267125575}"/>
              </a:ext>
            </a:extLst>
          </p:cNvPr>
          <p:cNvCxnSpPr>
            <a:cxnSpLocks/>
          </p:cNvCxnSpPr>
          <p:nvPr/>
        </p:nvCxnSpPr>
        <p:spPr>
          <a:xfrm flipV="1">
            <a:off x="2435908" y="3541486"/>
            <a:ext cx="2641371" cy="94342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828336E-6143-AB0B-27B4-0F479150A855}"/>
              </a:ext>
            </a:extLst>
          </p:cNvPr>
          <p:cNvCxnSpPr>
            <a:cxnSpLocks/>
          </p:cNvCxnSpPr>
          <p:nvPr/>
        </p:nvCxnSpPr>
        <p:spPr>
          <a:xfrm flipV="1">
            <a:off x="4073299" y="2235200"/>
            <a:ext cx="1122815" cy="342854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86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75B6837-0D09-4C2F-6751-EA3FF04DA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II: </a:t>
            </a:r>
            <a:br>
              <a:rPr lang="en-US" b="1" dirty="0"/>
            </a:br>
            <a:r>
              <a:rPr lang="en-US" dirty="0"/>
              <a:t>Preparing Your Data and Code for DRAC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7A3350-5D8A-2BD3-19F4-6C6B37CD8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893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CAD33-37D3-20E7-B20F-084C1F6F0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4F788-9ABF-7527-6E29-53CDD6983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DRAC Service Rule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B83BE-62D5-4926-DA60-43F1A082C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178" y="2180126"/>
            <a:ext cx="4195119" cy="18332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You must prepare and deliver your </a:t>
            </a:r>
            <a:r>
              <a:rPr lang="en-US" b="1" dirty="0"/>
              <a:t>ingredients </a:t>
            </a:r>
            <a:r>
              <a:rPr lang="en-US" dirty="0"/>
              <a:t>and </a:t>
            </a:r>
            <a:r>
              <a:rPr lang="en-US" b="1" dirty="0"/>
              <a:t>recipe</a:t>
            </a:r>
            <a:r>
              <a:rPr lang="en-US" dirty="0"/>
              <a:t> yourself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FE4757-95D1-20F1-A98F-075667020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646976"/>
            <a:ext cx="3512820" cy="32137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2A7C54-6E43-0F2F-5AF1-1AEBD4C7F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625" b="95438" l="10000" r="90000">
                        <a14:foregroundMark x1="28938" y1="21625" x2="41375" y2="21375"/>
                        <a14:foregroundMark x1="41375" y1="21375" x2="54000" y2="22063"/>
                        <a14:foregroundMark x1="64938" y1="7875" x2="67188" y2="8438"/>
                        <a14:foregroundMark x1="70000" y1="8750" x2="70000" y2="8750"/>
                        <a14:foregroundMark x1="54563" y1="5625" x2="58000" y2="5938"/>
                        <a14:foregroundMark x1="37688" y1="7250" x2="44688" y2="6250"/>
                        <a14:foregroundMark x1="28250" y1="9188" x2="37438" y2="7438"/>
                        <a14:foregroundMark x1="26438" y1="14250" x2="27750" y2="10250"/>
                        <a14:foregroundMark x1="25875" y1="13063" x2="28375" y2="10250"/>
                        <a14:foregroundMark x1="37688" y1="91688" x2="56250" y2="92000"/>
                        <a14:foregroundMark x1="47188" y1="95125" x2="52063" y2="95438"/>
                        <a14:foregroundMark x1="30750" y1="39250" x2="29250" y2="394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890691">
            <a:off x="6011227" y="1708844"/>
            <a:ext cx="1548767" cy="1548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3597A9-0636-7B5C-F6FA-743E28F9F1BF}"/>
              </a:ext>
            </a:extLst>
          </p:cNvPr>
          <p:cNvSpPr txBox="1"/>
          <p:nvPr/>
        </p:nvSpPr>
        <p:spPr>
          <a:xfrm rot="20632904">
            <a:off x="6983237" y="4069124"/>
            <a:ext cx="71897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DRAC</a:t>
            </a:r>
          </a:p>
        </p:txBody>
      </p:sp>
      <p:sp>
        <p:nvSpPr>
          <p:cNvPr id="7" name="Equals 6">
            <a:extLst>
              <a:ext uri="{FF2B5EF4-FFF2-40B4-BE49-F238E27FC236}">
                <a16:creationId xmlns:a16="http://schemas.microsoft.com/office/drawing/2014/main" id="{324D1272-AE98-2B8C-D515-8704B7696674}"/>
              </a:ext>
            </a:extLst>
          </p:cNvPr>
          <p:cNvSpPr/>
          <p:nvPr/>
        </p:nvSpPr>
        <p:spPr>
          <a:xfrm>
            <a:off x="1915253" y="3696152"/>
            <a:ext cx="1192968" cy="51343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5EDA3270-F826-2F7D-6DF4-321B75182EAB}"/>
              </a:ext>
            </a:extLst>
          </p:cNvPr>
          <p:cNvSpPr txBox="1">
            <a:spLocks/>
          </p:cNvSpPr>
          <p:nvPr/>
        </p:nvSpPr>
        <p:spPr>
          <a:xfrm>
            <a:off x="688576" y="4502776"/>
            <a:ext cx="3646323" cy="5964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800" dirty="0"/>
              <a:t>You must prepare and deliver your input </a:t>
            </a:r>
            <a:r>
              <a:rPr lang="en-US" sz="2800" b="1" dirty="0"/>
              <a:t>data</a:t>
            </a:r>
            <a:r>
              <a:rPr lang="en-US" sz="2800" dirty="0"/>
              <a:t> and </a:t>
            </a:r>
            <a:r>
              <a:rPr lang="en-US" sz="2800" b="1" dirty="0"/>
              <a:t>code</a:t>
            </a:r>
            <a:r>
              <a:rPr lang="en-US" sz="2800" dirty="0"/>
              <a:t> yourself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73401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 animBg="1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1EBD93B-6E84-011E-C3B7-2C4020715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97" y="3600472"/>
            <a:ext cx="2527483" cy="2359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F9C382-6CE2-F372-A422-3C07B6FB5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1a: Preparing your data and code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60689C-83FC-CCE3-E75E-91B2312BB996}"/>
              </a:ext>
            </a:extLst>
          </p:cNvPr>
          <p:cNvSpPr/>
          <p:nvPr/>
        </p:nvSpPr>
        <p:spPr>
          <a:xfrm>
            <a:off x="739036" y="3929946"/>
            <a:ext cx="1377863" cy="286269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F7EB21-C478-08C2-B1F6-F5B277FAFAB1}"/>
              </a:ext>
            </a:extLst>
          </p:cNvPr>
          <p:cNvGrpSpPr/>
          <p:nvPr/>
        </p:nvGrpSpPr>
        <p:grpSpPr>
          <a:xfrm>
            <a:off x="648098" y="1776566"/>
            <a:ext cx="2527482" cy="1539950"/>
            <a:chOff x="696928" y="1939620"/>
            <a:chExt cx="2346960" cy="142996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02BDC8D-F120-17F3-DC03-2047E03B2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7743" y="2309080"/>
              <a:ext cx="2005330" cy="92783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3D830C7-FC99-E38A-6A09-AA0AF1EFD59D}"/>
                </a:ext>
              </a:extLst>
            </p:cNvPr>
            <p:cNvSpPr txBox="1"/>
            <p:nvPr/>
          </p:nvSpPr>
          <p:spPr>
            <a:xfrm>
              <a:off x="1271302" y="1939620"/>
              <a:ext cx="1198213" cy="369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>
                  <a:solidFill>
                    <a:schemeClr val="accent1"/>
                  </a:solidFill>
                </a:rPr>
                <a:t>Input Data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767585B-C0E1-E842-27C8-D471A70005CF}"/>
                </a:ext>
              </a:extLst>
            </p:cNvPr>
            <p:cNvSpPr/>
            <p:nvPr/>
          </p:nvSpPr>
          <p:spPr>
            <a:xfrm>
              <a:off x="696928" y="1939621"/>
              <a:ext cx="2346960" cy="1429960"/>
            </a:xfrm>
            <a:prstGeom prst="rect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081EABC-C334-9D4C-D2FF-38FE73747F2E}"/>
              </a:ext>
            </a:extLst>
          </p:cNvPr>
          <p:cNvSpPr/>
          <p:nvPr/>
        </p:nvSpPr>
        <p:spPr>
          <a:xfrm>
            <a:off x="739036" y="5502441"/>
            <a:ext cx="1788160" cy="251448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4EFAF3A-3A58-A29A-3B8E-44CA6A245F5E}"/>
              </a:ext>
            </a:extLst>
          </p:cNvPr>
          <p:cNvGrpSpPr/>
          <p:nvPr/>
        </p:nvGrpSpPr>
        <p:grpSpPr>
          <a:xfrm>
            <a:off x="3534982" y="5187405"/>
            <a:ext cx="5003800" cy="732360"/>
            <a:chOff x="3511550" y="4992629"/>
            <a:chExt cx="5003800" cy="73236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320DC3-BB86-905B-9FAF-2B560A563211}"/>
                </a:ext>
              </a:extLst>
            </p:cNvPr>
            <p:cNvSpPr txBox="1"/>
            <p:nvPr/>
          </p:nvSpPr>
          <p:spPr>
            <a:xfrm>
              <a:off x="5678262" y="4992629"/>
              <a:ext cx="670376" cy="369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>
                  <a:solidFill>
                    <a:schemeClr val="accent4"/>
                  </a:solidFill>
                </a:rPr>
                <a:t>Code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3F40B80-AA51-DF2E-FE0E-8E55EBD3D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84588" y="5362089"/>
              <a:ext cx="4657725" cy="209550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82DAA2F-D695-203A-46DC-66FC837EF3E8}"/>
                </a:ext>
              </a:extLst>
            </p:cNvPr>
            <p:cNvSpPr/>
            <p:nvPr/>
          </p:nvSpPr>
          <p:spPr>
            <a:xfrm>
              <a:off x="3511550" y="4992629"/>
              <a:ext cx="5003800" cy="732360"/>
            </a:xfrm>
            <a:prstGeom prst="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5B9B667-164B-E498-275B-16239105CBBC}"/>
              </a:ext>
            </a:extLst>
          </p:cNvPr>
          <p:cNvSpPr/>
          <p:nvPr/>
        </p:nvSpPr>
        <p:spPr>
          <a:xfrm>
            <a:off x="832052" y="5107608"/>
            <a:ext cx="2313269" cy="286269"/>
          </a:xfrm>
          <a:prstGeom prst="rect">
            <a:avLst/>
          </a:prstGeom>
          <a:noFill/>
          <a:ln w="762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5DFD52A-5B83-A072-0B98-3E5D661039A6}"/>
              </a:ext>
            </a:extLst>
          </p:cNvPr>
          <p:cNvGrpSpPr/>
          <p:nvPr/>
        </p:nvGrpSpPr>
        <p:grpSpPr>
          <a:xfrm>
            <a:off x="4587762" y="1495911"/>
            <a:ext cx="2851375" cy="3116910"/>
            <a:chOff x="4587762" y="1495911"/>
            <a:chExt cx="2851375" cy="311691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C54D5D4-D336-22CB-B41C-1862F98EC819}"/>
                </a:ext>
              </a:extLst>
            </p:cNvPr>
            <p:cNvGrpSpPr/>
            <p:nvPr/>
          </p:nvGrpSpPr>
          <p:grpSpPr>
            <a:xfrm>
              <a:off x="4587762" y="1495911"/>
              <a:ext cx="2851375" cy="3116910"/>
              <a:chOff x="4572000" y="1133011"/>
              <a:chExt cx="2575209" cy="2772239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F21111B-57C3-FF10-FF83-519294D6B97F}"/>
                  </a:ext>
                </a:extLst>
              </p:cNvPr>
              <p:cNvSpPr/>
              <p:nvPr/>
            </p:nvSpPr>
            <p:spPr>
              <a:xfrm>
                <a:off x="4572000" y="1133011"/>
                <a:ext cx="2575209" cy="2772239"/>
              </a:xfrm>
              <a:prstGeom prst="rect">
                <a:avLst/>
              </a:prstGeom>
              <a:noFill/>
              <a:ln w="762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0E6D53-BEC2-CA39-6BC0-CE5396CE9502}"/>
                  </a:ext>
                </a:extLst>
              </p:cNvPr>
              <p:cNvSpPr txBox="1"/>
              <p:nvPr/>
            </p:nvSpPr>
            <p:spPr>
              <a:xfrm>
                <a:off x="5505226" y="1133011"/>
                <a:ext cx="843412" cy="369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b="1" dirty="0">
                    <a:solidFill>
                      <a:srgbClr val="69B0A0"/>
                    </a:solidFill>
                  </a:rPr>
                  <a:t>Result</a:t>
                </a:r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EA726B8-3013-6A9E-40DE-3A2C62A33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48214" y="1798808"/>
              <a:ext cx="2530469" cy="26585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508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1E9179-7A4E-6481-6E3D-0816276B9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Step 1b: Delivering your data and code (with Globus)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DB57F4-F8AA-B3D9-A9E2-2E86DB120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3100070" cy="4351335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About Globus:</a:t>
            </a:r>
          </a:p>
          <a:p>
            <a:r>
              <a:rPr lang="en-CA" dirty="0"/>
              <a:t>Web app for file management </a:t>
            </a:r>
          </a:p>
          <a:p>
            <a:r>
              <a:rPr lang="en-CA" dirty="0"/>
              <a:t>Use can use it to…</a:t>
            </a:r>
          </a:p>
          <a:p>
            <a:pPr lvl="1"/>
            <a:r>
              <a:rPr lang="en-CA" dirty="0"/>
              <a:t>Visualize your files and folders</a:t>
            </a:r>
          </a:p>
          <a:p>
            <a:pPr lvl="1"/>
            <a:r>
              <a:rPr lang="en-CA" dirty="0"/>
              <a:t>Transfer local files to and from DRAC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635E7F-68D9-9332-D115-B6F748ED7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464" y="1825627"/>
            <a:ext cx="4542329" cy="25634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E565F7-6B2C-D07B-3D1E-27BBF46DD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464" y="5366798"/>
            <a:ext cx="4542329" cy="508923"/>
          </a:xfrm>
          <a:prstGeom prst="rect">
            <a:avLst/>
          </a:prstGeom>
        </p:spPr>
      </p:pic>
      <p:sp>
        <p:nvSpPr>
          <p:cNvPr id="11" name="Equals 10">
            <a:extLst>
              <a:ext uri="{FF2B5EF4-FFF2-40B4-BE49-F238E27FC236}">
                <a16:creationId xmlns:a16="http://schemas.microsoft.com/office/drawing/2014/main" id="{5384C5C0-B417-FFA3-C262-9C77986BE344}"/>
              </a:ext>
            </a:extLst>
          </p:cNvPr>
          <p:cNvSpPr/>
          <p:nvPr/>
        </p:nvSpPr>
        <p:spPr>
          <a:xfrm>
            <a:off x="5915514" y="4524059"/>
            <a:ext cx="740229" cy="659676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44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E01A0-0A8E-6581-94DB-21D574223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5B2BA-09D6-DC02-4D34-B244A32F1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Demo:</a:t>
            </a:r>
            <a:br>
              <a:rPr lang="en-CA" b="1" dirty="0"/>
            </a:br>
            <a:r>
              <a:rPr lang="en-CA" dirty="0"/>
              <a:t>Navigating folders with </a:t>
            </a:r>
            <a:r>
              <a:rPr lang="en-CA" dirty="0" err="1"/>
              <a:t>linux</a:t>
            </a:r>
            <a:r>
              <a:rPr lang="en-CA" dirty="0"/>
              <a:t> commands</a:t>
            </a:r>
            <a:endParaRPr lang="en-CA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EA4F1-EEF1-BE4E-D17D-A86DF81F6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6091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752B-5CB6-CEC0-DB66-01C331390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Activity: Get familiar with </a:t>
            </a:r>
            <a:r>
              <a:rPr lang="en-CA" b="1" dirty="0" err="1"/>
              <a:t>linux</a:t>
            </a:r>
            <a:r>
              <a:rPr lang="en-CA" b="1" dirty="0"/>
              <a:t>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93CC0-C978-4932-4EA9-EF3F1626C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2505075" cy="4351335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CA" sz="1600" dirty="0"/>
              <a:t>What directory are you currently in?</a:t>
            </a:r>
          </a:p>
          <a:p>
            <a:pPr marL="514350" indent="-514350">
              <a:buAutoNum type="arabicPeriod"/>
            </a:pPr>
            <a:r>
              <a:rPr lang="en-CA" sz="1600" dirty="0"/>
              <a:t>Navigate to the “</a:t>
            </a:r>
            <a:r>
              <a:rPr lang="en-CA" sz="1600" dirty="0" err="1"/>
              <a:t>IntroToHighPerformanceComputing</a:t>
            </a:r>
            <a:r>
              <a:rPr lang="en-CA" sz="1600" dirty="0"/>
              <a:t>” folder</a:t>
            </a:r>
          </a:p>
          <a:p>
            <a:pPr marL="514350" indent="-514350">
              <a:buAutoNum type="arabicPeriod"/>
            </a:pPr>
            <a:r>
              <a:rPr lang="en-CA" sz="1600" dirty="0"/>
              <a:t>Navigate to the “Data” folder</a:t>
            </a:r>
          </a:p>
          <a:p>
            <a:pPr marL="514350" indent="-514350">
              <a:buAutoNum type="arabicPeriod"/>
            </a:pPr>
            <a:r>
              <a:rPr lang="en-CA" sz="1600" dirty="0"/>
              <a:t>Print the contents of the one of the files in the Data folder.</a:t>
            </a:r>
          </a:p>
          <a:p>
            <a:pPr marL="514350" indent="-514350">
              <a:buAutoNum type="arabicPeriod"/>
            </a:pPr>
            <a:r>
              <a:rPr lang="en-CA" sz="1600" dirty="0"/>
              <a:t>Execute the command “cd ..”. Where does that take you?</a:t>
            </a:r>
          </a:p>
          <a:p>
            <a:pPr marL="514350" indent="-514350">
              <a:buAutoNum type="arabicPeriod"/>
            </a:pPr>
            <a:endParaRPr lang="en-C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A66777-9819-2418-FD12-97C0ECC356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0761391"/>
              </p:ext>
            </p:extLst>
          </p:nvPr>
        </p:nvGraphicFramePr>
        <p:xfrm>
          <a:off x="3448050" y="1825625"/>
          <a:ext cx="5337604" cy="387932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43528">
                  <a:extLst>
                    <a:ext uri="{9D8B030D-6E8A-4147-A177-3AD203B41FA5}">
                      <a16:colId xmlns:a16="http://schemas.microsoft.com/office/drawing/2014/main" val="1639947816"/>
                    </a:ext>
                  </a:extLst>
                </a:gridCol>
                <a:gridCol w="1893988">
                  <a:extLst>
                    <a:ext uri="{9D8B030D-6E8A-4147-A177-3AD203B41FA5}">
                      <a16:colId xmlns:a16="http://schemas.microsoft.com/office/drawing/2014/main" val="3957405432"/>
                    </a:ext>
                  </a:extLst>
                </a:gridCol>
                <a:gridCol w="2200088">
                  <a:extLst>
                    <a:ext uri="{9D8B030D-6E8A-4147-A177-3AD203B41FA5}">
                      <a16:colId xmlns:a16="http://schemas.microsoft.com/office/drawing/2014/main" val="2508917731"/>
                    </a:ext>
                  </a:extLst>
                </a:gridCol>
              </a:tblGrid>
              <a:tr h="335471">
                <a:tc>
                  <a:txBody>
                    <a:bodyPr/>
                    <a:lstStyle/>
                    <a:p>
                      <a:r>
                        <a:rPr lang="en-CA" dirty="0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044207"/>
                  </a:ext>
                </a:extLst>
              </a:tr>
              <a:tr h="579032">
                <a:tc>
                  <a:txBody>
                    <a:bodyPr/>
                    <a:lstStyle/>
                    <a:p>
                      <a:r>
                        <a:rPr lang="en-CA" sz="1600" dirty="0" err="1">
                          <a:solidFill>
                            <a:srgbClr val="527631"/>
                          </a:solidFill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pwd</a:t>
                      </a:r>
                      <a:endParaRPr lang="en-CA" sz="1600" dirty="0">
                        <a:solidFill>
                          <a:srgbClr val="527631"/>
                        </a:solidFill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Print current directory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err="1"/>
                        <a:t>pwd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686356"/>
                  </a:ext>
                </a:extLst>
              </a:tr>
              <a:tr h="579032">
                <a:tc>
                  <a:txBody>
                    <a:bodyPr/>
                    <a:lstStyle/>
                    <a:p>
                      <a:r>
                        <a:rPr lang="en-CA" sz="1600" dirty="0">
                          <a:solidFill>
                            <a:srgbClr val="527631"/>
                          </a:solidFill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Change 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cd some/folder/path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407827"/>
                  </a:ext>
                </a:extLst>
              </a:tr>
              <a:tr h="274757">
                <a:tc>
                  <a:txBody>
                    <a:bodyPr/>
                    <a:lstStyle/>
                    <a:p>
                      <a:r>
                        <a:rPr lang="en-CA" sz="1600" dirty="0">
                          <a:solidFill>
                            <a:srgbClr val="527631"/>
                          </a:solidFill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List contents of a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ls some/folder/path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623625"/>
                  </a:ext>
                </a:extLst>
              </a:tr>
              <a:tr h="827188">
                <a:tc>
                  <a:txBody>
                    <a:bodyPr/>
                    <a:lstStyle/>
                    <a:p>
                      <a:r>
                        <a:rPr lang="en-CA" sz="1600" dirty="0">
                          <a:solidFill>
                            <a:srgbClr val="527631"/>
                          </a:solidFill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Print contents of a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cat someFile.txt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623940"/>
                  </a:ext>
                </a:extLst>
              </a:tr>
              <a:tr h="827188">
                <a:tc>
                  <a:txBody>
                    <a:bodyPr/>
                    <a:lstStyle/>
                    <a:p>
                      <a:r>
                        <a:rPr lang="en-CA" sz="1600" dirty="0" err="1">
                          <a:solidFill>
                            <a:srgbClr val="527631"/>
                          </a:solidFill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mkdir</a:t>
                      </a:r>
                      <a:endParaRPr lang="en-CA" sz="1600" dirty="0">
                        <a:solidFill>
                          <a:srgbClr val="527631"/>
                        </a:solidFill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Makes a new 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err="1"/>
                        <a:t>mkdir</a:t>
                      </a:r>
                      <a:r>
                        <a:rPr lang="en-CA" dirty="0"/>
                        <a:t> </a:t>
                      </a:r>
                      <a:r>
                        <a:rPr lang="en-CA" dirty="0" err="1"/>
                        <a:t>DirectoryName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832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2239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268113-1396-F138-07DC-308038D3A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Demo: </a:t>
            </a:r>
            <a:br>
              <a:rPr lang="en-CA" b="1" dirty="0"/>
            </a:br>
            <a:r>
              <a:rPr lang="en-CA" dirty="0"/>
              <a:t>Creating a destination folder on DRAC with Globus</a:t>
            </a:r>
            <a:endParaRPr lang="en-CA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673ED3-870E-6ED4-AE6B-A01D9B779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1602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90957-4F6C-D479-6B52-21631D1A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Activity:</a:t>
            </a:r>
            <a:r>
              <a:rPr lang="en-CA" dirty="0"/>
              <a:t> </a:t>
            </a:r>
            <a:r>
              <a:rPr lang="en-CA" b="1" dirty="0"/>
              <a:t>Create a destination folder on DRAC with Globus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F63EA-D5B9-C63B-58E8-74827AEC9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CA" dirty="0"/>
              <a:t>Go to </a:t>
            </a:r>
            <a:r>
              <a:rPr lang="en-CA" dirty="0">
                <a:hlinkClick r:id="rId2"/>
              </a:rPr>
              <a:t>Globus</a:t>
            </a:r>
            <a:endParaRPr lang="en-CA" dirty="0"/>
          </a:p>
          <a:p>
            <a:pPr marL="514350" indent="-514350">
              <a:buAutoNum type="arabicPeriod"/>
            </a:pPr>
            <a:r>
              <a:rPr lang="en-CA" dirty="0"/>
              <a:t>Click file manager</a:t>
            </a:r>
          </a:p>
          <a:p>
            <a:pPr marL="514350" indent="-514350">
              <a:buAutoNum type="arabicPeriod"/>
            </a:pPr>
            <a:r>
              <a:rPr lang="en-CA" dirty="0"/>
              <a:t>Search for the DRAC cluster you are using</a:t>
            </a:r>
          </a:p>
          <a:p>
            <a:pPr marL="514350" indent="-514350">
              <a:buAutoNum type="arabicPeriod"/>
            </a:pPr>
            <a:r>
              <a:rPr lang="en-CA" dirty="0"/>
              <a:t>Navigate to your projects folder</a:t>
            </a:r>
          </a:p>
          <a:p>
            <a:pPr marL="514350" indent="-514350">
              <a:buAutoNum type="arabicPeriod"/>
            </a:pPr>
            <a:r>
              <a:rPr lang="en-CA" dirty="0"/>
              <a:t>Create a new folder called “</a:t>
            </a:r>
            <a:r>
              <a:rPr lang="en-CA" dirty="0" err="1"/>
              <a:t>IntroToHighPerformanceComputing</a:t>
            </a:r>
            <a:r>
              <a:rPr lang="en-CA" dirty="0"/>
              <a:t>”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60909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FA414-0CA7-1B45-F098-EE3788E21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Demo:</a:t>
            </a:r>
            <a:br>
              <a:rPr lang="en-CA" b="1" dirty="0"/>
            </a:br>
            <a:r>
              <a:rPr lang="en-CA" dirty="0"/>
              <a:t>Logging into DRAC</a:t>
            </a:r>
            <a:endParaRPr lang="en-CA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0EB43-6AB1-2BD1-AA35-4B2E2B03E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0148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FD3E9-2929-EB41-F020-D6B596AFF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Activity: Log into DRAC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36134-2329-0BFE-420B-2AFFC4618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CA" dirty="0"/>
              <a:t>In terminal, initiate login</a:t>
            </a:r>
          </a:p>
          <a:p>
            <a:pPr lvl="1"/>
            <a:r>
              <a:rPr lang="en-CA" dirty="0">
                <a:solidFill>
                  <a:srgbClr val="52763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</a:t>
            </a:r>
            <a:r>
              <a:rPr lang="en-CA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CA" dirty="0">
                <a:solidFill>
                  <a:srgbClr val="52763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ssh &lt;username&gt;@</a:t>
            </a:r>
            <a:r>
              <a:rPr lang="en-CA" dirty="0" err="1">
                <a:solidFill>
                  <a:srgbClr val="52763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nibi.alliancecan.ca</a:t>
            </a:r>
            <a:endParaRPr lang="en-CA" dirty="0">
              <a:solidFill>
                <a:srgbClr val="52763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514350" indent="-514350">
              <a:buAutoNum type="arabicPeriod"/>
            </a:pPr>
            <a:r>
              <a:rPr lang="en-CA" dirty="0"/>
              <a:t>Enter your password</a:t>
            </a:r>
          </a:p>
          <a:p>
            <a:pPr marL="514350" indent="-514350">
              <a:buAutoNum type="arabicPeriod"/>
            </a:pPr>
            <a:r>
              <a:rPr lang="en-CA" dirty="0"/>
              <a:t>Enter “1” to receive Duo Push notification on phone</a:t>
            </a:r>
          </a:p>
          <a:p>
            <a:pPr marL="514350" indent="-514350">
              <a:buAutoNum type="arabicPeriod"/>
            </a:pPr>
            <a:r>
              <a:rPr lang="en-CA" dirty="0"/>
              <a:t>Accept Duo Push notification on phone</a:t>
            </a:r>
          </a:p>
          <a:p>
            <a:pPr marL="514350" indent="-514350">
              <a:buAutoNum type="arabicPeriod"/>
            </a:pPr>
            <a:r>
              <a:rPr lang="en-CA" dirty="0"/>
              <a:t>Using the terminal commands </a:t>
            </a:r>
            <a:r>
              <a:rPr lang="en-CA" sz="2400" dirty="0">
                <a:solidFill>
                  <a:srgbClr val="52763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cd</a:t>
            </a:r>
            <a:r>
              <a:rPr lang="en-CA" dirty="0"/>
              <a:t> and </a:t>
            </a:r>
            <a:r>
              <a:rPr lang="en-CA" sz="2400" dirty="0">
                <a:solidFill>
                  <a:srgbClr val="52763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</a:t>
            </a:r>
            <a:r>
              <a:rPr lang="en-CA" dirty="0"/>
              <a:t>, navigate to new folder to verify it has been created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46800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661B4-0837-EDA3-8C2A-F37CC3FF8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Demo: </a:t>
            </a:r>
            <a:br>
              <a:rPr lang="en-CA" b="1" dirty="0"/>
            </a:br>
            <a:r>
              <a:rPr lang="en-CA" dirty="0"/>
              <a:t>Delivering files to DRAC with Globus</a:t>
            </a:r>
            <a:r>
              <a:rPr lang="en-CA" b="1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D3766-89F5-DC3C-6237-D1E5B245A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7386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695D2-693A-BD2F-2B69-5E7EC34D2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Activity: Delivering files to DRAC with Globus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3C7CE-D56D-AB7A-364B-574C6ACD9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CA" dirty="0"/>
              <a:t>On Globus, set your destination folder to be “</a:t>
            </a:r>
            <a:r>
              <a:rPr lang="en-CA" dirty="0" err="1"/>
              <a:t>IntroToHighPerformanceComputing</a:t>
            </a:r>
            <a:r>
              <a:rPr lang="en-CA" dirty="0"/>
              <a:t>” </a:t>
            </a:r>
          </a:p>
          <a:p>
            <a:pPr marL="514350" indent="-514350">
              <a:buAutoNum type="arabicPeriod"/>
            </a:pPr>
            <a:r>
              <a:rPr lang="en-CA" dirty="0"/>
              <a:t>Click “Transfer or Sync to…”</a:t>
            </a:r>
          </a:p>
          <a:p>
            <a:pPr marL="514350" indent="-514350">
              <a:buAutoNum type="arabicPeriod"/>
            </a:pPr>
            <a:r>
              <a:rPr lang="en-CA" dirty="0"/>
              <a:t>Set your source folder to be the “</a:t>
            </a:r>
            <a:r>
              <a:rPr lang="en-CA" dirty="0" err="1"/>
              <a:t>IntroToHighPerformanceComputing</a:t>
            </a:r>
            <a:r>
              <a:rPr lang="en-CA" dirty="0"/>
              <a:t>/Exercises”  folder on your local computer</a:t>
            </a:r>
          </a:p>
          <a:p>
            <a:pPr marL="514350" indent="-514350">
              <a:buAutoNum type="arabicPeriod"/>
            </a:pPr>
            <a:r>
              <a:rPr lang="en-CA" dirty="0"/>
              <a:t>Select all folders inside the “Exercises” folder</a:t>
            </a:r>
          </a:p>
          <a:p>
            <a:pPr marL="514350" indent="-514350">
              <a:buAutoNum type="arabicPeriod"/>
            </a:pPr>
            <a:r>
              <a:rPr lang="en-CA" dirty="0"/>
              <a:t>Click “Start”</a:t>
            </a:r>
          </a:p>
        </p:txBody>
      </p:sp>
    </p:spTree>
    <p:extLst>
      <p:ext uri="{BB962C8B-B14F-4D97-AF65-F5344CB8AC3E}">
        <p14:creationId xmlns:p14="http://schemas.microsoft.com/office/powerpoint/2010/main" val="1911603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3B9650-70FF-074E-F8B1-D3D891BE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Activity: Confirm your file transfer to DRAC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2FD3F3-BE09-5F6D-C5F4-8B01C04FF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9582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Goal: </a:t>
            </a:r>
            <a:r>
              <a:rPr lang="en-CA" dirty="0"/>
              <a:t>Print the contents of the file in the “Results” folder to terminal </a:t>
            </a:r>
          </a:p>
          <a:p>
            <a:pPr marL="0" indent="0">
              <a:buNone/>
            </a:pPr>
            <a:endParaRPr lang="en-CA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C59D8-3579-D5FF-B03C-2FB1621FA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2918779"/>
            <a:ext cx="3669030" cy="357409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Hint: </a:t>
            </a:r>
            <a:r>
              <a:rPr lang="en-CA" dirty="0"/>
              <a:t>You will need to use the following terminal commands</a:t>
            </a:r>
          </a:p>
          <a:p>
            <a:r>
              <a:rPr lang="en-CA" dirty="0"/>
              <a:t>cd </a:t>
            </a:r>
            <a:r>
              <a:rPr lang="en-CA" dirty="0">
                <a:sym typeface="Wingdings" panose="05000000000000000000" pitchFamily="2" charset="2"/>
              </a:rPr>
              <a:t> change directory </a:t>
            </a:r>
          </a:p>
          <a:p>
            <a:r>
              <a:rPr lang="en-CA" dirty="0">
                <a:sym typeface="Wingdings" panose="05000000000000000000" pitchFamily="2" charset="2"/>
              </a:rPr>
              <a:t>ls  list contents of directory </a:t>
            </a:r>
          </a:p>
          <a:p>
            <a:r>
              <a:rPr lang="en-CA" dirty="0">
                <a:sym typeface="Wingdings" panose="05000000000000000000" pitchFamily="2" charset="2"/>
              </a:rPr>
              <a:t>cat  print contents of file to terminal </a:t>
            </a: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C62A0F-BEDC-852C-2867-38D7B32D6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978" y="1690688"/>
            <a:ext cx="2919542" cy="44756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7259D93-F5B0-02FA-B9FC-65A1647E9666}"/>
              </a:ext>
            </a:extLst>
          </p:cNvPr>
          <p:cNvSpPr/>
          <p:nvPr/>
        </p:nvSpPr>
        <p:spPr>
          <a:xfrm>
            <a:off x="6106160" y="1690688"/>
            <a:ext cx="1991360" cy="1349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600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258273F-1E91-8382-EE7E-00E0E63C7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Module III: </a:t>
            </a:r>
            <a:br>
              <a:rPr lang="en-CA" b="1" dirty="0"/>
            </a:br>
            <a:r>
              <a:rPr lang="en-CA" dirty="0"/>
              <a:t>Running a Job on DRAC</a:t>
            </a:r>
            <a:endParaRPr lang="en-CA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EA0FE1-C3B1-645D-0D95-4998DB19C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7369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8D459-1E13-BB5B-F4DF-0EB56EACF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CED6A-6764-4E39-B707-1695753D3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DRAC Service Rule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87856-3C48-92C9-023D-11E146E3A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176" y="1757444"/>
            <a:ext cx="4195119" cy="18332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To schedule </a:t>
            </a:r>
            <a:r>
              <a:rPr lang="en-US" sz="2800" b="1" dirty="0"/>
              <a:t>a cooking job</a:t>
            </a:r>
            <a:r>
              <a:rPr lang="en-US" sz="2800" dirty="0"/>
              <a:t>, you must submit a job request to </a:t>
            </a:r>
            <a:r>
              <a:rPr lang="en-US" sz="2800" b="1" dirty="0"/>
              <a:t>the DRAC manager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AC9753-1784-7815-5135-4D38294CB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646976"/>
            <a:ext cx="3512820" cy="32137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0D673C-7BFE-2F30-53CD-7F1A334BB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625" b="95438" l="10000" r="90000">
                        <a14:foregroundMark x1="28938" y1="21625" x2="41375" y2="21375"/>
                        <a14:foregroundMark x1="41375" y1="21375" x2="54000" y2="22063"/>
                        <a14:foregroundMark x1="64938" y1="7875" x2="67188" y2="8438"/>
                        <a14:foregroundMark x1="70000" y1="8750" x2="70000" y2="8750"/>
                        <a14:foregroundMark x1="54563" y1="5625" x2="58000" y2="5938"/>
                        <a14:foregroundMark x1="37688" y1="7250" x2="44688" y2="6250"/>
                        <a14:foregroundMark x1="28250" y1="9188" x2="37438" y2="7438"/>
                        <a14:foregroundMark x1="26438" y1="14250" x2="27750" y2="10250"/>
                        <a14:foregroundMark x1="25875" y1="13063" x2="28375" y2="10250"/>
                        <a14:foregroundMark x1="37688" y1="91688" x2="56250" y2="92000"/>
                        <a14:foregroundMark x1="47188" y1="95125" x2="52063" y2="95438"/>
                        <a14:foregroundMark x1="30750" y1="39250" x2="29250" y2="394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890691">
            <a:off x="6011227" y="1708844"/>
            <a:ext cx="1548767" cy="1548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574C41-A448-DACA-49DF-1C3B85E16D64}"/>
              </a:ext>
            </a:extLst>
          </p:cNvPr>
          <p:cNvSpPr txBox="1"/>
          <p:nvPr/>
        </p:nvSpPr>
        <p:spPr>
          <a:xfrm rot="20632904">
            <a:off x="6983237" y="4069124"/>
            <a:ext cx="71897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DRAC</a:t>
            </a:r>
          </a:p>
        </p:txBody>
      </p:sp>
      <p:sp>
        <p:nvSpPr>
          <p:cNvPr id="7" name="Equals 6">
            <a:extLst>
              <a:ext uri="{FF2B5EF4-FFF2-40B4-BE49-F238E27FC236}">
                <a16:creationId xmlns:a16="http://schemas.microsoft.com/office/drawing/2014/main" id="{AD9EBBB2-2771-CEDC-8A3D-71D3730CED8B}"/>
              </a:ext>
            </a:extLst>
          </p:cNvPr>
          <p:cNvSpPr/>
          <p:nvPr/>
        </p:nvSpPr>
        <p:spPr>
          <a:xfrm>
            <a:off x="1915252" y="3590655"/>
            <a:ext cx="1192968" cy="51343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633BA92-395C-D1F0-194A-15705DAC0DDB}"/>
              </a:ext>
            </a:extLst>
          </p:cNvPr>
          <p:cNvSpPr txBox="1">
            <a:spLocks/>
          </p:cNvSpPr>
          <p:nvPr/>
        </p:nvSpPr>
        <p:spPr>
          <a:xfrm>
            <a:off x="688573" y="4307572"/>
            <a:ext cx="3646323" cy="5964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To schedule </a:t>
            </a:r>
            <a:r>
              <a:rPr lang="en-US" sz="2800" b="1" dirty="0"/>
              <a:t>your code to run</a:t>
            </a:r>
            <a:r>
              <a:rPr lang="en-US" sz="2800" dirty="0"/>
              <a:t>, you must submit a job to </a:t>
            </a:r>
            <a:r>
              <a:rPr lang="en-US" sz="2800" b="1" dirty="0" err="1"/>
              <a:t>slurm</a:t>
            </a:r>
            <a:endParaRPr lang="en-US" sz="2800" b="1" dirty="0"/>
          </a:p>
          <a:p>
            <a:pPr marL="0" indent="0">
              <a:buNone/>
            </a:pPr>
            <a:endParaRPr lang="en-CA" sz="2800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116633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 animBg="1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5332-EFC5-4693-BC26-02071D364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What is </a:t>
            </a:r>
            <a:r>
              <a:rPr lang="en-CA" b="1" dirty="0" err="1"/>
              <a:t>slurm</a:t>
            </a:r>
            <a:r>
              <a:rPr lang="en-CA" b="1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D56F2-76A8-0398-993E-275983BF1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3079750" cy="4351335"/>
          </a:xfrm>
        </p:spPr>
        <p:txBody>
          <a:bodyPr/>
          <a:lstStyle/>
          <a:p>
            <a:r>
              <a:rPr lang="en-CA" dirty="0"/>
              <a:t>A job scheduler used by supercomputers</a:t>
            </a:r>
          </a:p>
          <a:p>
            <a:r>
              <a:rPr lang="en-CA" dirty="0"/>
              <a:t>Manages allocating compute resources among all users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42060C-8337-EF4F-9306-09C5541223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30" t="1037" r="7401" b="12741"/>
          <a:stretch>
            <a:fillRect/>
          </a:stretch>
        </p:blipFill>
        <p:spPr>
          <a:xfrm>
            <a:off x="4899728" y="3203554"/>
            <a:ext cx="3319712" cy="26686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A927AA-20E6-B157-FFDB-2C7375E126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28848" r="364" b="9041"/>
          <a:stretch>
            <a:fillRect/>
          </a:stretch>
        </p:blipFill>
        <p:spPr>
          <a:xfrm>
            <a:off x="4714240" y="1331063"/>
            <a:ext cx="3505200" cy="16357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787B83-7A4D-7EB7-6643-CEA657370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240" y="789532"/>
            <a:ext cx="3189278" cy="75755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A4CBD6B-7988-8831-2431-F0B94F1838DA}"/>
              </a:ext>
            </a:extLst>
          </p:cNvPr>
          <p:cNvSpPr/>
          <p:nvPr/>
        </p:nvSpPr>
        <p:spPr>
          <a:xfrm>
            <a:off x="5698435" y="4787494"/>
            <a:ext cx="463826" cy="10846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B68300-CF48-FD0D-90BF-EB55BDA278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931093"/>
            <a:ext cx="1028205" cy="941069"/>
          </a:xfrm>
          <a:prstGeom prst="rect">
            <a:avLst/>
          </a:prstGeom>
        </p:spPr>
      </p:pic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1A6A9F62-BED5-FAA2-99F8-96EADA18B072}"/>
              </a:ext>
            </a:extLst>
          </p:cNvPr>
          <p:cNvCxnSpPr>
            <a:cxnSpLocks/>
            <a:stCxn id="7" idx="2"/>
            <a:endCxn id="8" idx="2"/>
          </p:cNvCxnSpPr>
          <p:nvPr/>
        </p:nvCxnSpPr>
        <p:spPr>
          <a:xfrm rot="5400000" flipH="1" flipV="1">
            <a:off x="5508224" y="5450039"/>
            <a:ext cx="1" cy="844245"/>
          </a:xfrm>
          <a:prstGeom prst="curvedConnector3">
            <a:avLst>
              <a:gd name="adj1" fmla="val -228600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37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E44CF-419C-152E-001F-202ACA322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C793143-CC21-3E6B-B9E2-A28C645D6A0D}"/>
              </a:ext>
            </a:extLst>
          </p:cNvPr>
          <p:cNvGrpSpPr/>
          <p:nvPr/>
        </p:nvGrpSpPr>
        <p:grpSpPr>
          <a:xfrm>
            <a:off x="1926558" y="2777020"/>
            <a:ext cx="5489417" cy="3272123"/>
            <a:chOff x="3370803" y="3039778"/>
            <a:chExt cx="5489417" cy="327212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595E833-19A2-CE8B-3516-342C2724E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0803" y="3039778"/>
              <a:ext cx="5489417" cy="3272123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995BBB-D908-7962-9341-4FDE84B511DB}"/>
                </a:ext>
              </a:extLst>
            </p:cNvPr>
            <p:cNvSpPr/>
            <p:nvPr/>
          </p:nvSpPr>
          <p:spPr>
            <a:xfrm>
              <a:off x="3370803" y="3039778"/>
              <a:ext cx="5489416" cy="3272123"/>
            </a:xfrm>
            <a:prstGeom prst="rect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62B740-D02D-8899-5400-889F43E05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do I submit a job to </a:t>
            </a:r>
            <a:r>
              <a:rPr lang="en-US" b="1" dirty="0" err="1"/>
              <a:t>slurm</a:t>
            </a:r>
            <a:r>
              <a:rPr lang="en-US" b="1" dirty="0"/>
              <a:t>?</a:t>
            </a:r>
            <a:endParaRPr lang="en-CA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44F4D-6564-1DEC-23B7-5125C6DB2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560310" cy="4351335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ea typeface="Menlo" panose="020B0609030804020204" pitchFamily="49" charset="0"/>
                <a:cs typeface="Menlo" panose="020B0609030804020204" pitchFamily="49" charset="0"/>
              </a:rPr>
              <a:t>1. Create a </a:t>
            </a:r>
            <a:r>
              <a:rPr lang="en-CA" b="1" dirty="0">
                <a:solidFill>
                  <a:schemeClr val="accent1"/>
                </a:solidFill>
                <a:ea typeface="Menlo" panose="020B0609030804020204" pitchFamily="49" charset="0"/>
                <a:cs typeface="Menlo" panose="020B0609030804020204" pitchFamily="49" charset="0"/>
              </a:rPr>
              <a:t>batch script </a:t>
            </a:r>
            <a:r>
              <a:rPr lang="en-CA" b="1" dirty="0">
                <a:ea typeface="Menlo" panose="020B0609030804020204" pitchFamily="49" charset="0"/>
                <a:cs typeface="Menlo" panose="020B0609030804020204" pitchFamily="49" charset="0"/>
              </a:rPr>
              <a:t>(instructions for how to run your code)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6AE98BB-49D4-5385-578A-2D0C76090388}"/>
              </a:ext>
            </a:extLst>
          </p:cNvPr>
          <p:cNvGrpSpPr/>
          <p:nvPr/>
        </p:nvGrpSpPr>
        <p:grpSpPr>
          <a:xfrm>
            <a:off x="4849906" y="3806438"/>
            <a:ext cx="895620" cy="765561"/>
            <a:chOff x="4849906" y="3806438"/>
            <a:chExt cx="895620" cy="765561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5266CA10-302A-6B69-FD9A-B074483BDBD3}"/>
                </a:ext>
              </a:extLst>
            </p:cNvPr>
            <p:cNvSpPr/>
            <p:nvPr/>
          </p:nvSpPr>
          <p:spPr>
            <a:xfrm>
              <a:off x="4849906" y="3806438"/>
              <a:ext cx="340660" cy="765561"/>
            </a:xfrm>
            <a:prstGeom prst="rightBrac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02E785D-32BB-FECD-6EF3-11DF218DBA7D}"/>
                </a:ext>
              </a:extLst>
            </p:cNvPr>
            <p:cNvSpPr txBox="1"/>
            <p:nvPr/>
          </p:nvSpPr>
          <p:spPr>
            <a:xfrm>
              <a:off x="5190566" y="4059997"/>
              <a:ext cx="5549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EXTRA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1E2EB6B-B9E6-D9A4-E2E3-4F5DE85190C5}"/>
              </a:ext>
            </a:extLst>
          </p:cNvPr>
          <p:cNvGrpSpPr/>
          <p:nvPr/>
        </p:nvGrpSpPr>
        <p:grpSpPr>
          <a:xfrm>
            <a:off x="3818965" y="3157819"/>
            <a:ext cx="1294767" cy="535642"/>
            <a:chOff x="3818965" y="3157819"/>
            <a:chExt cx="1294767" cy="535642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221926F4-6BFE-55BE-5056-0C30DADD56B0}"/>
                </a:ext>
              </a:extLst>
            </p:cNvPr>
            <p:cNvSpPr/>
            <p:nvPr/>
          </p:nvSpPr>
          <p:spPr>
            <a:xfrm>
              <a:off x="3818965" y="3157819"/>
              <a:ext cx="340660" cy="535642"/>
            </a:xfrm>
            <a:prstGeom prst="rightBrac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D4F5B4B-6449-12EE-B735-44938A3427C9}"/>
                </a:ext>
              </a:extLst>
            </p:cNvPr>
            <p:cNvSpPr txBox="1"/>
            <p:nvPr/>
          </p:nvSpPr>
          <p:spPr>
            <a:xfrm>
              <a:off x="4159625" y="3294835"/>
              <a:ext cx="9541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MANDATORY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3A292B0-10B6-ED1F-4A7D-3C5C0418333D}"/>
              </a:ext>
            </a:extLst>
          </p:cNvPr>
          <p:cNvGrpSpPr/>
          <p:nvPr/>
        </p:nvGrpSpPr>
        <p:grpSpPr>
          <a:xfrm>
            <a:off x="4849906" y="4710466"/>
            <a:ext cx="2093063" cy="535642"/>
            <a:chOff x="4849906" y="4710466"/>
            <a:chExt cx="2093063" cy="535642"/>
          </a:xfrm>
        </p:grpSpPr>
        <p:sp>
          <p:nvSpPr>
            <p:cNvPr id="14" name="Right Brace 13">
              <a:extLst>
                <a:ext uri="{FF2B5EF4-FFF2-40B4-BE49-F238E27FC236}">
                  <a16:creationId xmlns:a16="http://schemas.microsoft.com/office/drawing/2014/main" id="{0A7354EF-E2C9-36F6-C55A-14FCE487B018}"/>
                </a:ext>
              </a:extLst>
            </p:cNvPr>
            <p:cNvSpPr/>
            <p:nvPr/>
          </p:nvSpPr>
          <p:spPr>
            <a:xfrm>
              <a:off x="4849906" y="4710466"/>
              <a:ext cx="340660" cy="535642"/>
            </a:xfrm>
            <a:prstGeom prst="rightBrac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1E4053-304E-E468-B125-5484863D680D}"/>
                </a:ext>
              </a:extLst>
            </p:cNvPr>
            <p:cNvSpPr txBox="1"/>
            <p:nvPr/>
          </p:nvSpPr>
          <p:spPr>
            <a:xfrm>
              <a:off x="5190566" y="4847482"/>
              <a:ext cx="175240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PATHS TO DATA AND CODE</a:t>
              </a:r>
            </a:p>
          </p:txBody>
        </p:sp>
      </p:grpSp>
      <p:sp>
        <p:nvSpPr>
          <p:cNvPr id="16" name="Right Brace 15">
            <a:extLst>
              <a:ext uri="{FF2B5EF4-FFF2-40B4-BE49-F238E27FC236}">
                <a16:creationId xmlns:a16="http://schemas.microsoft.com/office/drawing/2014/main" id="{B988656F-361C-1D7A-0EC0-636DC35DA7B1}"/>
              </a:ext>
            </a:extLst>
          </p:cNvPr>
          <p:cNvSpPr/>
          <p:nvPr/>
        </p:nvSpPr>
        <p:spPr>
          <a:xfrm>
            <a:off x="3550024" y="5367993"/>
            <a:ext cx="340660" cy="279174"/>
          </a:xfrm>
          <a:prstGeom prst="rightBrac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1CB817-3F7B-E292-226A-23E5E683FD68}"/>
              </a:ext>
            </a:extLst>
          </p:cNvPr>
          <p:cNvSpPr txBox="1"/>
          <p:nvPr/>
        </p:nvSpPr>
        <p:spPr>
          <a:xfrm>
            <a:off x="3890684" y="5376775"/>
            <a:ext cx="23727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LIBRARIES YOUR CODE NEEDS TO RUN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470E93F-CCBC-1875-2AE0-BE56FD77CF80}"/>
              </a:ext>
            </a:extLst>
          </p:cNvPr>
          <p:cNvGrpSpPr/>
          <p:nvPr/>
        </p:nvGrpSpPr>
        <p:grpSpPr>
          <a:xfrm>
            <a:off x="5510383" y="5797284"/>
            <a:ext cx="1564072" cy="279174"/>
            <a:chOff x="5510383" y="5797284"/>
            <a:chExt cx="1564072" cy="279174"/>
          </a:xfrm>
        </p:grpSpPr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B73D0F06-B234-2DAF-E5D1-9DC7EE6B60E8}"/>
                </a:ext>
              </a:extLst>
            </p:cNvPr>
            <p:cNvSpPr/>
            <p:nvPr/>
          </p:nvSpPr>
          <p:spPr>
            <a:xfrm>
              <a:off x="5510383" y="5797284"/>
              <a:ext cx="340660" cy="279174"/>
            </a:xfrm>
            <a:prstGeom prst="rightBrac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95FBAF7-3368-097D-B91C-85CEA04C58D2}"/>
                </a:ext>
              </a:extLst>
            </p:cNvPr>
            <p:cNvSpPr txBox="1"/>
            <p:nvPr/>
          </p:nvSpPr>
          <p:spPr>
            <a:xfrm>
              <a:off x="5851043" y="5806066"/>
              <a:ext cx="122341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RUNS YOUR CODE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4E0CDD30-CCF9-5B13-4EE8-FB3FBD3C3503}"/>
              </a:ext>
            </a:extLst>
          </p:cNvPr>
          <p:cNvSpPr/>
          <p:nvPr/>
        </p:nvSpPr>
        <p:spPr>
          <a:xfrm>
            <a:off x="1926558" y="3760135"/>
            <a:ext cx="5489416" cy="8664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7485CC-6680-0A1A-B6EF-8E68BBDC92B4}"/>
              </a:ext>
            </a:extLst>
          </p:cNvPr>
          <p:cNvSpPr/>
          <p:nvPr/>
        </p:nvSpPr>
        <p:spPr>
          <a:xfrm>
            <a:off x="1935523" y="5660506"/>
            <a:ext cx="5489416" cy="4229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96DDB1-6AEB-F9BC-D59B-97F2D2959E5F}"/>
              </a:ext>
            </a:extLst>
          </p:cNvPr>
          <p:cNvSpPr/>
          <p:nvPr/>
        </p:nvSpPr>
        <p:spPr>
          <a:xfrm>
            <a:off x="1935523" y="5265047"/>
            <a:ext cx="5489416" cy="4229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AE741B-06AE-9F3B-5A0C-BC61CE47D2D4}"/>
              </a:ext>
            </a:extLst>
          </p:cNvPr>
          <p:cNvSpPr/>
          <p:nvPr/>
        </p:nvSpPr>
        <p:spPr>
          <a:xfrm>
            <a:off x="1935523" y="4626571"/>
            <a:ext cx="5489416" cy="6409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71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20" grpId="0" animBg="1"/>
      <p:bldP spid="20" grpId="1" animBg="1"/>
      <p:bldP spid="26" grpId="0" animBg="1"/>
      <p:bldP spid="26" grpId="1" animBg="1"/>
      <p:bldP spid="25" grpId="0" animBg="1"/>
      <p:bldP spid="25" grpId="1" animBg="1"/>
      <p:bldP spid="24" grpId="0" animBg="1"/>
      <p:bldP spid="24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F667E-22D9-18AC-6D11-A973638C4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39838-7CF5-4EC8-B709-06F308E8B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do I submit a job to </a:t>
            </a:r>
            <a:r>
              <a:rPr lang="en-US" b="1" dirty="0" err="1"/>
              <a:t>slurm</a:t>
            </a:r>
            <a:r>
              <a:rPr lang="en-US" b="1" dirty="0"/>
              <a:t>?</a:t>
            </a:r>
            <a:endParaRPr lang="en-CA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17A79-C31D-A7D8-2603-DEF14210C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560310" cy="4351335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ea typeface="Menlo" panose="020B0609030804020204" pitchFamily="49" charset="0"/>
                <a:cs typeface="Menlo" panose="020B0609030804020204" pitchFamily="49" charset="0"/>
              </a:rPr>
              <a:t>2. Submit your </a:t>
            </a:r>
            <a:r>
              <a:rPr lang="en-CA" b="1" dirty="0">
                <a:solidFill>
                  <a:schemeClr val="accent1"/>
                </a:solidFill>
                <a:ea typeface="Menlo" panose="020B0609030804020204" pitchFamily="49" charset="0"/>
                <a:cs typeface="Menlo" panose="020B0609030804020204" pitchFamily="49" charset="0"/>
              </a:rPr>
              <a:t>batch script </a:t>
            </a:r>
            <a:r>
              <a:rPr lang="en-CA" b="1" dirty="0">
                <a:ea typeface="Menlo" panose="020B0609030804020204" pitchFamily="49" charset="0"/>
                <a:cs typeface="Menlo" panose="020B0609030804020204" pitchFamily="49" charset="0"/>
              </a:rPr>
              <a:t>with </a:t>
            </a:r>
            <a:r>
              <a:rPr lang="en-CA" b="1" dirty="0" err="1">
                <a:ea typeface="Menlo" panose="020B0609030804020204" pitchFamily="49" charset="0"/>
                <a:cs typeface="Menlo" panose="020B0609030804020204" pitchFamily="49" charset="0"/>
              </a:rPr>
              <a:t>sbatch</a:t>
            </a:r>
            <a:endParaRPr lang="en-CA" b="1" dirty="0"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CA" dirty="0">
                <a:sym typeface="Wingdings" panose="05000000000000000000" pitchFamily="2" charset="2"/>
              </a:rPr>
              <a:t>Usage </a:t>
            </a:r>
            <a:r>
              <a:rPr lang="en-CA" dirty="0">
                <a:solidFill>
                  <a:srgbClr val="527631"/>
                </a:solidFill>
                <a:sym typeface="Wingdings" panose="05000000000000000000" pitchFamily="2" charset="2"/>
              </a:rPr>
              <a:t> </a:t>
            </a:r>
            <a:r>
              <a:rPr lang="en-CA" sz="2400" dirty="0">
                <a:solidFill>
                  <a:srgbClr val="527631"/>
                </a:solidFill>
                <a:sym typeface="Wingdings" panose="05000000000000000000" pitchFamily="2" charset="2"/>
              </a:rPr>
              <a:t>$</a:t>
            </a:r>
            <a:r>
              <a:rPr lang="en-CA" sz="2400" b="1" dirty="0">
                <a:solidFill>
                  <a:srgbClr val="527631"/>
                </a:solidFill>
                <a:sym typeface="Wingdings" panose="05000000000000000000" pitchFamily="2" charset="2"/>
              </a:rPr>
              <a:t> </a:t>
            </a:r>
            <a:r>
              <a:rPr lang="en-CA" sz="2400" dirty="0" err="1">
                <a:solidFill>
                  <a:srgbClr val="52763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sbatch</a:t>
            </a:r>
            <a:r>
              <a:rPr lang="en-CA" sz="2400" dirty="0">
                <a:solidFill>
                  <a:srgbClr val="52763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 batchScript.sh</a:t>
            </a:r>
            <a:endParaRPr lang="en-CA" dirty="0">
              <a:solidFill>
                <a:srgbClr val="52763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7FB74D1-08D3-4BC6-FE37-0A41842F2C20}"/>
              </a:ext>
            </a:extLst>
          </p:cNvPr>
          <p:cNvGrpSpPr/>
          <p:nvPr/>
        </p:nvGrpSpPr>
        <p:grpSpPr>
          <a:xfrm>
            <a:off x="3370803" y="2529843"/>
            <a:ext cx="5489417" cy="3782058"/>
            <a:chOff x="3370803" y="2529843"/>
            <a:chExt cx="5489417" cy="3782058"/>
          </a:xfrm>
        </p:grpSpPr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8A2C3E58-9245-8E7F-EC89-34DA12D66681}"/>
                </a:ext>
              </a:extLst>
            </p:cNvPr>
            <p:cNvSpPr/>
            <p:nvPr/>
          </p:nvSpPr>
          <p:spPr>
            <a:xfrm rot="5400000">
              <a:off x="4896372" y="1402830"/>
              <a:ext cx="509935" cy="2763961"/>
            </a:xfrm>
            <a:prstGeom prst="rightBrace">
              <a:avLst>
                <a:gd name="adj1" fmla="val 20288"/>
                <a:gd name="adj2" fmla="val 49632"/>
              </a:avLst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5627E72-33EF-CDE6-1034-FAFD528C3493}"/>
                </a:ext>
              </a:extLst>
            </p:cNvPr>
            <p:cNvGrpSpPr/>
            <p:nvPr/>
          </p:nvGrpSpPr>
          <p:grpSpPr>
            <a:xfrm>
              <a:off x="3370803" y="3039778"/>
              <a:ext cx="5489417" cy="3272123"/>
              <a:chOff x="3370803" y="3039778"/>
              <a:chExt cx="5489417" cy="3272123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B37E96B-1C6A-D830-1E8D-9308DE2A10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370803" y="3039778"/>
                <a:ext cx="5489417" cy="3272123"/>
              </a:xfrm>
              <a:prstGeom prst="rect">
                <a:avLst/>
              </a:prstGeom>
            </p:spPr>
          </p:pic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87EE0BB-0E51-9F61-D6BB-DDCA94A27D4A}"/>
                  </a:ext>
                </a:extLst>
              </p:cNvPr>
              <p:cNvSpPr/>
              <p:nvPr/>
            </p:nvSpPr>
            <p:spPr>
              <a:xfrm>
                <a:off x="3370803" y="3039778"/>
                <a:ext cx="5489416" cy="3272123"/>
              </a:xfrm>
              <a:prstGeom prst="rect">
                <a:avLst/>
              </a:prstGeom>
              <a:noFill/>
              <a:ln w="762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F4D232B-FEA1-B30E-E3ED-2B499EE70841}"/>
              </a:ext>
            </a:extLst>
          </p:cNvPr>
          <p:cNvGrpSpPr/>
          <p:nvPr/>
        </p:nvGrpSpPr>
        <p:grpSpPr>
          <a:xfrm>
            <a:off x="803356" y="3039778"/>
            <a:ext cx="2192129" cy="3035201"/>
            <a:chOff x="803356" y="3039778"/>
            <a:chExt cx="2192129" cy="3035201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C2AFFA9-0BFE-0959-40D0-C81B09ABCB87}"/>
                </a:ext>
              </a:extLst>
            </p:cNvPr>
            <p:cNvGrpSpPr/>
            <p:nvPr/>
          </p:nvGrpSpPr>
          <p:grpSpPr>
            <a:xfrm>
              <a:off x="931274" y="3039778"/>
              <a:ext cx="2064211" cy="2993160"/>
              <a:chOff x="4714240" y="789532"/>
              <a:chExt cx="3505200" cy="5082630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6557B290-F1A3-5FC2-A4DE-99AFC65857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4730" t="1037" r="7401" b="12741"/>
              <a:stretch>
                <a:fillRect/>
              </a:stretch>
            </p:blipFill>
            <p:spPr>
              <a:xfrm>
                <a:off x="4899728" y="3203554"/>
                <a:ext cx="3319712" cy="2668608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2CC5D70E-ABEB-408A-A096-4F8CF202D7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-1" t="28848" r="364" b="9041"/>
              <a:stretch>
                <a:fillRect/>
              </a:stretch>
            </p:blipFill>
            <p:spPr>
              <a:xfrm>
                <a:off x="4714240" y="1331063"/>
                <a:ext cx="3505200" cy="1635760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20120F66-AFE1-B345-B3C6-0255A95DD9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4240" y="789532"/>
                <a:ext cx="3189278" cy="757558"/>
              </a:xfrm>
              <a:prstGeom prst="rect">
                <a:avLst/>
              </a:prstGeom>
            </p:spPr>
          </p:pic>
        </p:grp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27AE769-5908-68DE-EF17-DC657DC95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3356" y="5453886"/>
              <a:ext cx="678602" cy="621093"/>
            </a:xfrm>
            <a:prstGeom prst="rect">
              <a:avLst/>
            </a:prstGeom>
          </p:spPr>
        </p:pic>
      </p:grpSp>
      <p:pic>
        <p:nvPicPr>
          <p:cNvPr id="36" name="Graphic 35" descr="Man with solid fill">
            <a:extLst>
              <a:ext uri="{FF2B5EF4-FFF2-40B4-BE49-F238E27FC236}">
                <a16:creationId xmlns:a16="http://schemas.microsoft.com/office/drawing/2014/main" id="{2FCE23CB-7E15-3921-2959-90CFEBB3BE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6450" y="5812596"/>
            <a:ext cx="287811" cy="28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60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3 -0.00116 C 0.00382 -0.02894 0.00417 -0.05648 -0.00121 -0.07315 C -0.00659 -0.09005 -0.025 -0.09028 -0.02882 -0.10232 C -0.03263 -0.11435 -0.03472 -0.1456 -0.02413 -0.14514 " pathEditMode="relative" ptsTypes="AAAA">
                                      <p:cBhvr>
                                        <p:cTn id="2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CE7D5-B61E-7CC2-066B-615D9C7B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Common </a:t>
            </a:r>
            <a:r>
              <a:rPr lang="en-CA" b="1" dirty="0" err="1"/>
              <a:t>slurm</a:t>
            </a:r>
            <a:r>
              <a:rPr lang="en-CA" b="1" dirty="0"/>
              <a:t>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8831B-94BA-08C8-C4E7-D2D87C7EF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 err="1"/>
              <a:t>squeue</a:t>
            </a:r>
            <a:r>
              <a:rPr lang="en-CA" b="1" dirty="0"/>
              <a:t> / sq: </a:t>
            </a:r>
            <a:r>
              <a:rPr lang="en-CA" dirty="0"/>
              <a:t>Prints out information about your job submission (where you are in the queue, how long your job has been running, etc.)</a:t>
            </a:r>
            <a:r>
              <a:rPr lang="en-CA" b="1" dirty="0"/>
              <a:t> </a:t>
            </a:r>
          </a:p>
          <a:p>
            <a:r>
              <a:rPr lang="en-CA" dirty="0"/>
              <a:t>Usage </a:t>
            </a:r>
            <a:r>
              <a:rPr lang="en-CA" dirty="0">
                <a:sym typeface="Wingdings" panose="05000000000000000000" pitchFamily="2" charset="2"/>
              </a:rPr>
              <a:t> $ </a:t>
            </a:r>
            <a:r>
              <a:rPr lang="en-CA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sq</a:t>
            </a:r>
          </a:p>
          <a:p>
            <a:endParaRPr lang="en-CA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b="1" dirty="0" err="1"/>
              <a:t>scancel</a:t>
            </a:r>
            <a:r>
              <a:rPr lang="en-CA" b="1" dirty="0"/>
              <a:t>: </a:t>
            </a:r>
            <a:r>
              <a:rPr lang="en-CA" dirty="0"/>
              <a:t>Cancels a submitted job</a:t>
            </a:r>
          </a:p>
          <a:p>
            <a:r>
              <a:rPr lang="en-CA" dirty="0"/>
              <a:t>Usage </a:t>
            </a:r>
            <a:r>
              <a:rPr lang="en-CA" dirty="0">
                <a:sym typeface="Wingdings" panose="05000000000000000000" pitchFamily="2" charset="2"/>
              </a:rPr>
              <a:t> $ </a:t>
            </a:r>
            <a:r>
              <a:rPr lang="en-CA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scancel</a:t>
            </a:r>
            <a:r>
              <a:rPr lang="en-CA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 [</a:t>
            </a:r>
            <a:r>
              <a:rPr lang="en-CA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jobID</a:t>
            </a:r>
            <a:r>
              <a:rPr lang="en-CA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]</a:t>
            </a:r>
            <a:endParaRPr lang="en-CA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1C7BAD-B246-733B-7EB3-3A626FF6B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60" y="3784324"/>
            <a:ext cx="8361680" cy="4339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CA2B2A-FCC6-1D3B-8C8F-714123E23E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</a:extLst>
          </a:blip>
          <a:srcRect t="7758"/>
          <a:stretch>
            <a:fillRect/>
          </a:stretch>
        </p:blipFill>
        <p:spPr>
          <a:xfrm>
            <a:off x="391159" y="4389698"/>
            <a:ext cx="8361680" cy="43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67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38104-3835-21A0-6888-FDBA5C46C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Common </a:t>
            </a:r>
            <a:r>
              <a:rPr lang="en-CA" b="1" dirty="0" err="1"/>
              <a:t>slurm</a:t>
            </a:r>
            <a:r>
              <a:rPr lang="en-CA" b="1" dirty="0"/>
              <a:t>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E126A-3FA0-3009-9237-E3744B494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886700" cy="4351335"/>
          </a:xfrm>
        </p:spPr>
        <p:txBody>
          <a:bodyPr/>
          <a:lstStyle/>
          <a:p>
            <a:pPr marL="0" indent="0">
              <a:buNone/>
            </a:pPr>
            <a:r>
              <a:rPr lang="en-CA" b="1" dirty="0" err="1"/>
              <a:t>seff</a:t>
            </a:r>
            <a:r>
              <a:rPr lang="en-CA" b="1" dirty="0"/>
              <a:t>: </a:t>
            </a:r>
            <a:r>
              <a:rPr lang="en-CA" dirty="0"/>
              <a:t>Prints out information about a completed job (ex. How much time/memory it took in total)</a:t>
            </a:r>
          </a:p>
          <a:p>
            <a:r>
              <a:rPr lang="en-CA" dirty="0"/>
              <a:t>Usage </a:t>
            </a:r>
            <a:r>
              <a:rPr lang="en-CA" dirty="0">
                <a:sym typeface="Wingdings" panose="05000000000000000000" pitchFamily="2" charset="2"/>
              </a:rPr>
              <a:t> </a:t>
            </a:r>
            <a:r>
              <a:rPr lang="en-CA" sz="2400" dirty="0">
                <a:solidFill>
                  <a:srgbClr val="52763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$</a:t>
            </a:r>
            <a:r>
              <a:rPr lang="en-CA" dirty="0">
                <a:solidFill>
                  <a:srgbClr val="52763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 </a:t>
            </a:r>
            <a:r>
              <a:rPr lang="en-CA" sz="2400" dirty="0" err="1">
                <a:solidFill>
                  <a:srgbClr val="52763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seff</a:t>
            </a:r>
            <a:r>
              <a:rPr lang="en-CA" sz="2400" dirty="0">
                <a:solidFill>
                  <a:srgbClr val="52763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 [</a:t>
            </a:r>
            <a:r>
              <a:rPr lang="en-CA" sz="2400" dirty="0" err="1">
                <a:solidFill>
                  <a:srgbClr val="52763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jobID</a:t>
            </a:r>
            <a:r>
              <a:rPr lang="en-CA" sz="2400" dirty="0">
                <a:solidFill>
                  <a:srgbClr val="52763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anose="05000000000000000000" pitchFamily="2" charset="2"/>
              </a:rPr>
              <a:t>]</a:t>
            </a:r>
            <a:endParaRPr lang="en-CA" sz="2400" dirty="0">
              <a:solidFill>
                <a:srgbClr val="52763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54FF1D-1254-9898-AC27-24B218389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954" y="3429000"/>
            <a:ext cx="5766092" cy="251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907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F4F4B4-FF36-3F02-F856-269EBA90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Activity: Submit your job to DRAC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7EE2EA-2988-0153-E1FB-035CA2832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en-CA" dirty="0"/>
              <a:t>On DRAC print out the contents of the current batch script in the “Scripts” folder</a:t>
            </a:r>
          </a:p>
          <a:p>
            <a:pPr marL="514350" indent="-514350">
              <a:buAutoNum type="arabicPeriod"/>
            </a:pPr>
            <a:r>
              <a:rPr lang="en-CA" dirty="0"/>
              <a:t>On your local computer, modify the batch script</a:t>
            </a:r>
          </a:p>
          <a:p>
            <a:pPr lvl="1"/>
            <a:r>
              <a:rPr lang="en-CA" dirty="0"/>
              <a:t>Personalize lines ending with “# CHANGE”</a:t>
            </a:r>
          </a:p>
          <a:p>
            <a:pPr lvl="1"/>
            <a:r>
              <a:rPr lang="en-CA" dirty="0"/>
              <a:t>Change the input data text file to filling2 or filling3</a:t>
            </a:r>
          </a:p>
          <a:p>
            <a:pPr marL="514350" indent="-514350">
              <a:buAutoNum type="arabicPeriod"/>
            </a:pPr>
            <a:r>
              <a:rPr lang="en-CA" dirty="0"/>
              <a:t>Save the edited file and upload it to DRAC with Globus</a:t>
            </a:r>
          </a:p>
          <a:p>
            <a:pPr marL="514350" indent="-514350">
              <a:buAutoNum type="arabicPeriod"/>
            </a:pPr>
            <a:r>
              <a:rPr lang="en-CA" dirty="0"/>
              <a:t>On DRAC, print out the contents of the updated batch script to confirm your changes have been uploaded</a:t>
            </a:r>
          </a:p>
          <a:p>
            <a:pPr marL="514350" indent="-514350">
              <a:buAutoNum type="arabicPeriod"/>
            </a:pPr>
            <a:r>
              <a:rPr lang="en-CA" dirty="0"/>
              <a:t>Submit your batch script with </a:t>
            </a:r>
            <a:r>
              <a:rPr lang="en-CA" dirty="0" err="1"/>
              <a:t>sbatch</a:t>
            </a:r>
            <a:r>
              <a:rPr lang="en-CA" dirty="0"/>
              <a:t> </a:t>
            </a:r>
          </a:p>
          <a:p>
            <a:pPr marL="514350" indent="-514350">
              <a:buAutoNum type="arabicPeriod"/>
            </a:pPr>
            <a:r>
              <a:rPr lang="en-CA" dirty="0"/>
              <a:t>Check on the job’s status with </a:t>
            </a:r>
            <a:r>
              <a:rPr lang="en-CA" dirty="0" err="1"/>
              <a:t>squeue</a:t>
            </a:r>
            <a:r>
              <a:rPr lang="en-CA" dirty="0"/>
              <a:t> </a:t>
            </a:r>
          </a:p>
          <a:p>
            <a:pPr marL="514350" indent="-514350"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504888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08EA0C-855B-93A5-AD18-368D4CDF5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Module IV:</a:t>
            </a:r>
            <a:br>
              <a:rPr lang="en-CA" b="1" dirty="0"/>
            </a:br>
            <a:r>
              <a:rPr lang="en-CA" dirty="0"/>
              <a:t>Handling Job Errors</a:t>
            </a:r>
            <a:endParaRPr lang="en-CA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6C879-2AF1-43D1-8910-97C9FB283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1599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A37BFE-5E9D-284F-CF4A-ECF743514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Output and Error Files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AD1D14-61EB-A8E3-0E85-CB1F3AD9B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7886700" cy="160337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CA" b="1" dirty="0"/>
              <a:t>Output File: </a:t>
            </a:r>
            <a:r>
              <a:rPr lang="en-CA" dirty="0"/>
              <a:t>The output of any print statements within your batch script and code will be found here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b="1" dirty="0"/>
              <a:t>Error File: </a:t>
            </a:r>
            <a:r>
              <a:rPr lang="en-CA" dirty="0"/>
              <a:t>Any error messages generated during your job will be found here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69EFB2-4BC5-8094-D98F-4A35DCEF22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779" b="37155"/>
          <a:stretch>
            <a:fillRect/>
          </a:stretch>
        </p:blipFill>
        <p:spPr>
          <a:xfrm>
            <a:off x="760730" y="3563939"/>
            <a:ext cx="3069590" cy="26052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EAAC97-6B4E-0A6B-A598-AD6549B9B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704640"/>
            <a:ext cx="3562350" cy="3238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63568D7-2114-5715-B573-DFC089C5CEA5}"/>
              </a:ext>
            </a:extLst>
          </p:cNvPr>
          <p:cNvSpPr/>
          <p:nvPr/>
        </p:nvSpPr>
        <p:spPr>
          <a:xfrm>
            <a:off x="1137920" y="4704641"/>
            <a:ext cx="2682240" cy="458788"/>
          </a:xfrm>
          <a:prstGeom prst="rect">
            <a:avLst/>
          </a:prstGeom>
          <a:noFill/>
          <a:ln w="76200">
            <a:solidFill>
              <a:srgbClr val="72B0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1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27D05-17A7-07FC-895B-24BC2147D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Errors and Their Solutions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91446E-7E35-88AD-F081-BE287C256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351868"/>
              </p:ext>
            </p:extLst>
          </p:nvPr>
        </p:nvGraphicFramePr>
        <p:xfrm>
          <a:off x="628650" y="1690688"/>
          <a:ext cx="7886700" cy="293270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73086">
                  <a:extLst>
                    <a:ext uri="{9D8B030D-6E8A-4147-A177-3AD203B41FA5}">
                      <a16:colId xmlns:a16="http://schemas.microsoft.com/office/drawing/2014/main" val="2706717432"/>
                    </a:ext>
                  </a:extLst>
                </a:gridCol>
                <a:gridCol w="2384714">
                  <a:extLst>
                    <a:ext uri="{9D8B030D-6E8A-4147-A177-3AD203B41FA5}">
                      <a16:colId xmlns:a16="http://schemas.microsoft.com/office/drawing/2014/main" val="152977693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45915258"/>
                    </a:ext>
                  </a:extLst>
                </a:gridCol>
              </a:tblGrid>
              <a:tr h="341906">
                <a:tc>
                  <a:txBody>
                    <a:bodyPr/>
                    <a:lstStyle/>
                    <a:p>
                      <a:r>
                        <a:rPr lang="en-CA" sz="1700" dirty="0"/>
                        <a:t>Error Type</a:t>
                      </a:r>
                    </a:p>
                  </a:txBody>
                  <a:tcPr marL="85477" marR="85477" marT="42738" marB="42738"/>
                </a:tc>
                <a:tc>
                  <a:txBody>
                    <a:bodyPr/>
                    <a:lstStyle/>
                    <a:p>
                      <a:r>
                        <a:rPr lang="en-CA" sz="1700" dirty="0"/>
                        <a:t>Error Signal</a:t>
                      </a:r>
                    </a:p>
                  </a:txBody>
                  <a:tcPr marL="85477" marR="85477" marT="42738" marB="42738"/>
                </a:tc>
                <a:tc>
                  <a:txBody>
                    <a:bodyPr/>
                    <a:lstStyle/>
                    <a:p>
                      <a:r>
                        <a:rPr lang="en-CA" sz="1700" dirty="0"/>
                        <a:t>Solution</a:t>
                      </a:r>
                    </a:p>
                  </a:txBody>
                  <a:tcPr marL="85477" marR="85477" marT="42738" marB="42738"/>
                </a:tc>
                <a:extLst>
                  <a:ext uri="{0D108BD9-81ED-4DB2-BD59-A6C34878D82A}">
                    <a16:rowId xmlns:a16="http://schemas.microsoft.com/office/drawing/2014/main" val="1147396204"/>
                  </a:ext>
                </a:extLst>
              </a:tr>
              <a:tr h="854765">
                <a:tc>
                  <a:txBody>
                    <a:bodyPr/>
                    <a:lstStyle/>
                    <a:p>
                      <a:r>
                        <a:rPr lang="en-CA" sz="1700" dirty="0"/>
                        <a:t>Insufficient time or memory requested</a:t>
                      </a:r>
                    </a:p>
                  </a:txBody>
                  <a:tcPr marL="85477" marR="85477" marT="42738" marB="42738"/>
                </a:tc>
                <a:tc>
                  <a:txBody>
                    <a:bodyPr/>
                    <a:lstStyle/>
                    <a:p>
                      <a:r>
                        <a:rPr lang="en-CA" sz="1700" dirty="0"/>
                        <a:t>Error message written in output/error file and/or email</a:t>
                      </a:r>
                    </a:p>
                  </a:txBody>
                  <a:tcPr marL="85477" marR="85477" marT="42738" marB="42738"/>
                </a:tc>
                <a:tc>
                  <a:txBody>
                    <a:bodyPr/>
                    <a:lstStyle/>
                    <a:p>
                      <a:r>
                        <a:rPr lang="en-CA" sz="1700" dirty="0"/>
                        <a:t>Adjust time or memory request in batch script</a:t>
                      </a:r>
                    </a:p>
                  </a:txBody>
                  <a:tcPr marL="85477" marR="85477" marT="42738" marB="42738"/>
                </a:tc>
                <a:extLst>
                  <a:ext uri="{0D108BD9-81ED-4DB2-BD59-A6C34878D82A}">
                    <a16:rowId xmlns:a16="http://schemas.microsoft.com/office/drawing/2014/main" val="1041533305"/>
                  </a:ext>
                </a:extLst>
              </a:tr>
              <a:tr h="854765">
                <a:tc>
                  <a:txBody>
                    <a:bodyPr/>
                    <a:lstStyle/>
                    <a:p>
                      <a:r>
                        <a:rPr lang="en-CA" sz="1700" dirty="0"/>
                        <a:t>Incorrect path to file</a:t>
                      </a:r>
                    </a:p>
                  </a:txBody>
                  <a:tcPr marL="85477" marR="85477" marT="42738" marB="42738"/>
                </a:tc>
                <a:tc>
                  <a:txBody>
                    <a:bodyPr/>
                    <a:lstStyle/>
                    <a:p>
                      <a:pPr marL="0" marR="0" lvl="0" indent="0" algn="l" defTabSz="9141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700" dirty="0"/>
                        <a:t>Error message written in output/error file and/or email</a:t>
                      </a:r>
                    </a:p>
                  </a:txBody>
                  <a:tcPr marL="85477" marR="85477" marT="42738" marB="42738"/>
                </a:tc>
                <a:tc>
                  <a:txBody>
                    <a:bodyPr/>
                    <a:lstStyle/>
                    <a:p>
                      <a:r>
                        <a:rPr lang="en-CA" sz="1700" dirty="0"/>
                        <a:t>Correct path in batch script</a:t>
                      </a:r>
                    </a:p>
                  </a:txBody>
                  <a:tcPr marL="85477" marR="85477" marT="42738" marB="42738"/>
                </a:tc>
                <a:extLst>
                  <a:ext uri="{0D108BD9-81ED-4DB2-BD59-A6C34878D82A}">
                    <a16:rowId xmlns:a16="http://schemas.microsoft.com/office/drawing/2014/main" val="2533800774"/>
                  </a:ext>
                </a:extLst>
              </a:tr>
              <a:tr h="854765">
                <a:tc>
                  <a:txBody>
                    <a:bodyPr/>
                    <a:lstStyle/>
                    <a:p>
                      <a:r>
                        <a:rPr lang="en-CA" sz="1700" dirty="0"/>
                        <a:t>Missing libraries/modules/packages</a:t>
                      </a:r>
                    </a:p>
                  </a:txBody>
                  <a:tcPr marL="85477" marR="85477" marT="42738" marB="42738"/>
                </a:tc>
                <a:tc>
                  <a:txBody>
                    <a:bodyPr/>
                    <a:lstStyle/>
                    <a:p>
                      <a:r>
                        <a:rPr lang="en-CA" sz="1700" dirty="0"/>
                        <a:t>Error message written in output/error file and/or email</a:t>
                      </a:r>
                    </a:p>
                  </a:txBody>
                  <a:tcPr marL="85477" marR="85477" marT="42738" marB="42738"/>
                </a:tc>
                <a:tc>
                  <a:txBody>
                    <a:bodyPr/>
                    <a:lstStyle/>
                    <a:p>
                      <a:r>
                        <a:rPr lang="en-CA" sz="1700" dirty="0"/>
                        <a:t>Load in necessary libraries/modules/packages in batch script</a:t>
                      </a:r>
                    </a:p>
                  </a:txBody>
                  <a:tcPr marL="85477" marR="85477" marT="42738" marB="42738"/>
                </a:tc>
                <a:extLst>
                  <a:ext uri="{0D108BD9-81ED-4DB2-BD59-A6C34878D82A}">
                    <a16:rowId xmlns:a16="http://schemas.microsoft.com/office/drawing/2014/main" val="4268132027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40DD6-9F00-B392-7129-38FE25F41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8187" y="4813648"/>
            <a:ext cx="5299075" cy="1229012"/>
          </a:xfrm>
          <a:ln w="76200">
            <a:solidFill>
              <a:schemeClr val="accent2"/>
            </a:solidFill>
          </a:ln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endParaRPr lang="en-US" sz="500" b="1" dirty="0"/>
          </a:p>
          <a:p>
            <a:pPr marL="0" indent="0" algn="ctr">
              <a:buNone/>
            </a:pPr>
            <a:r>
              <a:rPr lang="en-US" b="1" dirty="0"/>
              <a:t>How to Debug on DRAC:</a:t>
            </a:r>
          </a:p>
          <a:p>
            <a:pPr marL="514350" indent="-514350" algn="ctr">
              <a:buAutoNum type="arabicPeriod"/>
            </a:pPr>
            <a:r>
              <a:rPr lang="en-US" dirty="0"/>
              <a:t>Identify error by reading output/error file and/or email</a:t>
            </a:r>
          </a:p>
          <a:p>
            <a:pPr marL="514350" indent="-514350" algn="ctr"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Edit batch script accordingly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13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8677C-67B6-707B-1E91-C6D3C129F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General Advice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04391-DBD6-2774-AC30-F17DC7244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Make sure your actual code is bug free before running it on DRAC</a:t>
            </a:r>
          </a:p>
          <a:p>
            <a:pPr lvl="1"/>
            <a:r>
              <a:rPr lang="en-US" dirty="0"/>
              <a:t>Eases DRAC debugging process by limiting sources of possible errors</a:t>
            </a:r>
          </a:p>
          <a:p>
            <a:r>
              <a:rPr lang="en-US" dirty="0"/>
              <a:t>Request only the time and memory you NEED </a:t>
            </a:r>
          </a:p>
          <a:p>
            <a:pPr lvl="1"/>
            <a:r>
              <a:rPr lang="en-US" dirty="0"/>
              <a:t>More demanding jobs usually == longer time before your job begins</a:t>
            </a:r>
          </a:p>
          <a:p>
            <a:r>
              <a:rPr lang="en-US" dirty="0"/>
              <a:t>If you are experiencing an unexplainable error, first check the status of the cluster you are using</a:t>
            </a:r>
          </a:p>
          <a:p>
            <a:pPr lvl="1"/>
            <a:r>
              <a:rPr lang="en-US" dirty="0"/>
              <a:t> Google “DRAC [cluster name] status”</a:t>
            </a:r>
          </a:p>
        </p:txBody>
      </p:sp>
    </p:spTree>
    <p:extLst>
      <p:ext uri="{BB962C8B-B14F-4D97-AF65-F5344CB8AC3E}">
        <p14:creationId xmlns:p14="http://schemas.microsoft.com/office/powerpoint/2010/main" val="186280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AF564-FE1A-EFD0-FA21-E578D442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DRAC Technical Support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5A29D-1436-E380-E4D2-AACD29186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886700" cy="1325565"/>
          </a:xfrm>
        </p:spPr>
        <p:txBody>
          <a:bodyPr>
            <a:normAutofit fontScale="92500"/>
          </a:bodyPr>
          <a:lstStyle/>
          <a:p>
            <a:r>
              <a:rPr lang="en-CA" dirty="0"/>
              <a:t>They are friendly and fast!</a:t>
            </a:r>
          </a:p>
          <a:p>
            <a:r>
              <a:rPr lang="en-CA" dirty="0"/>
              <a:t>See </a:t>
            </a:r>
            <a:r>
              <a:rPr lang="en-CA" dirty="0">
                <a:hlinkClick r:id="rId2"/>
              </a:rPr>
              <a:t>https://docs.alliancecan.ca/wiki/Technical_support</a:t>
            </a:r>
            <a:r>
              <a:rPr lang="en-CA" dirty="0"/>
              <a:t>  for more info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4901D78-BC80-5FFA-602F-DBEF3E105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757" y="3286131"/>
            <a:ext cx="7098486" cy="223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280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B09487-9E25-E3A5-3524-3936E49E8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Activity: Debug your batch script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67F686-45EF-5D5D-E0D3-C623721BA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CA" dirty="0"/>
              <a:t>Print out the contents of the .out file. What type of error occurred?</a:t>
            </a:r>
          </a:p>
          <a:p>
            <a:pPr marL="514350" indent="-514350">
              <a:buAutoNum type="arabicPeriod"/>
            </a:pPr>
            <a:r>
              <a:rPr lang="en-CA" dirty="0"/>
              <a:t>Fix the error in your batch script, update the file locally on your laptop, sync the changes you made to DRAC with Globus, and resubmit the job with </a:t>
            </a:r>
            <a:r>
              <a:rPr lang="en-CA" dirty="0" err="1"/>
              <a:t>sbatch</a:t>
            </a:r>
            <a:r>
              <a:rPr lang="en-CA" dirty="0"/>
              <a:t>.</a:t>
            </a:r>
          </a:p>
          <a:p>
            <a:pPr marL="514350" indent="-514350">
              <a:buAutoNum type="arabicPeriod"/>
            </a:pPr>
            <a:r>
              <a:rPr lang="en-CA" dirty="0"/>
              <a:t>Oh no there is another error… repeat steps 1-2</a:t>
            </a:r>
          </a:p>
        </p:txBody>
      </p:sp>
    </p:spTree>
    <p:extLst>
      <p:ext uri="{BB962C8B-B14F-4D97-AF65-F5344CB8AC3E}">
        <p14:creationId xmlns:p14="http://schemas.microsoft.com/office/powerpoint/2010/main" val="36077472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88B470-6CB3-10FC-9FE6-1B64CF589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Demo:</a:t>
            </a:r>
            <a:br>
              <a:rPr lang="en-CA" b="1" dirty="0"/>
            </a:br>
            <a:r>
              <a:rPr lang="en-CA" dirty="0"/>
              <a:t>Retrieving your results from DRAC with Globus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6050AE-CFC0-8C2E-BC1A-84287B98B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01603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9B207-AF5C-A561-0C87-7FE61AF01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Activity: Retrieve your results from DRAC with Globus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522FA-B3E2-47BC-926E-C1C045C5D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en-CA" dirty="0"/>
              <a:t>Go to </a:t>
            </a:r>
            <a:r>
              <a:rPr lang="en-CA" dirty="0">
                <a:hlinkClick r:id="rId2"/>
              </a:rPr>
              <a:t>Globus</a:t>
            </a:r>
            <a:endParaRPr lang="en-CA" dirty="0"/>
          </a:p>
          <a:p>
            <a:pPr marL="514350" indent="-514350">
              <a:buAutoNum type="arabicPeriod"/>
            </a:pPr>
            <a:r>
              <a:rPr lang="en-CA" dirty="0"/>
              <a:t>Click file manager</a:t>
            </a:r>
          </a:p>
          <a:p>
            <a:pPr marL="514350" indent="-514350">
              <a:buAutoNum type="arabicPeriod"/>
            </a:pPr>
            <a:r>
              <a:rPr lang="en-CA" dirty="0"/>
              <a:t>Search for the DRAC cluster you are using </a:t>
            </a:r>
          </a:p>
          <a:p>
            <a:pPr marL="514350" indent="-514350">
              <a:buAutoNum type="arabicPeriod"/>
            </a:pPr>
            <a:r>
              <a:rPr lang="en-CA" dirty="0"/>
              <a:t>Navigate to your “Results” folder</a:t>
            </a:r>
          </a:p>
          <a:p>
            <a:pPr marL="514350" indent="-514350">
              <a:buAutoNum type="arabicPeriod"/>
            </a:pPr>
            <a:r>
              <a:rPr lang="en-CA" dirty="0"/>
              <a:t>Select the resulting text file you want to retrieve </a:t>
            </a:r>
          </a:p>
          <a:p>
            <a:pPr marL="514350" indent="-514350">
              <a:buAutoNum type="arabicPeriod"/>
            </a:pPr>
            <a:r>
              <a:rPr lang="en-CA" dirty="0"/>
              <a:t>Click “Transfer or Sync to…”</a:t>
            </a:r>
          </a:p>
          <a:p>
            <a:pPr marL="514350" indent="-514350">
              <a:buAutoNum type="arabicPeriod"/>
            </a:pPr>
            <a:r>
              <a:rPr lang="en-CA" dirty="0"/>
              <a:t>Search for your local computer and navigate to your “Results” folder</a:t>
            </a:r>
          </a:p>
          <a:p>
            <a:pPr marL="514350" indent="-514350">
              <a:buAutoNum type="arabicPeriod"/>
            </a:pPr>
            <a:r>
              <a:rPr lang="en-CA" dirty="0"/>
              <a:t>Click “Start”</a:t>
            </a:r>
          </a:p>
          <a:p>
            <a:pPr marL="514350" indent="-514350">
              <a:buAutoNum type="arabicPeriod"/>
            </a:pPr>
            <a:r>
              <a:rPr lang="en-CA" dirty="0"/>
              <a:t>Open the retrieved text file on your laptop to verify the transfer</a:t>
            </a:r>
          </a:p>
          <a:p>
            <a:pPr marL="514350" indent="-514350">
              <a:buAutoNum type="arabicPeriod"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373266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67C7-8755-E8F3-B29F-1A24BEE21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Summary</a:t>
            </a:r>
            <a:endParaRPr lang="en-CA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6105F85-C5E8-9669-ED6A-1E4590A73A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5952743"/>
              </p:ext>
            </p:extLst>
          </p:nvPr>
        </p:nvGraphicFramePr>
        <p:xfrm>
          <a:off x="476885" y="1478194"/>
          <a:ext cx="8038465" cy="4396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433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51C46FE-3782-49F3-B990-1FCD0C5741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95E8CE-953C-478F-B177-EC03DC99E3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1B00825-F3BD-412F-9013-5CD79E8290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CCD42B8-A6C8-4974-8CC4-BD5F1A2F99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D3056CB-8EE3-4EB7-890C-003364A20F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20BE0-342D-03D0-56A3-99FE99DD8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Additional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B39D9-82AA-B616-A875-EAB7ABA79E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1" y="1825628"/>
            <a:ext cx="3325512" cy="269694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DRAC’s Wiki Page:</a:t>
            </a:r>
          </a:p>
          <a:p>
            <a:r>
              <a:rPr lang="en-US" dirty="0"/>
              <a:t>All information not covered in this workshop can be found here</a:t>
            </a:r>
          </a:p>
          <a:p>
            <a:r>
              <a:rPr lang="en-US" dirty="0"/>
              <a:t>When you encounter an issue, try searching for the solution here first</a:t>
            </a:r>
          </a:p>
          <a:p>
            <a:r>
              <a:rPr lang="en-US" dirty="0"/>
              <a:t>This website is informative but dense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Do not hesitate to reach out to technical support if you feel stuck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5E763-FEF7-B9EB-9B78-CB1CFE654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64227" y="1825627"/>
            <a:ext cx="4351123" cy="243745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Installing packages/libraries:</a:t>
            </a:r>
          </a:p>
          <a:p>
            <a:r>
              <a:rPr lang="en-US" dirty="0"/>
              <a:t>Your own code likely has dependencies from various packages/libraries</a:t>
            </a:r>
          </a:p>
          <a:p>
            <a:r>
              <a:rPr lang="en-US" dirty="0"/>
              <a:t>The protocol for making these dependencies accessible to your code when a job is run varies slightly between programming languages</a:t>
            </a:r>
          </a:p>
          <a:p>
            <a:r>
              <a:rPr lang="en-US" dirty="0"/>
              <a:t>All information regarding these protocols can be found on DRAC’s wiki page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F59AC1-22D6-DD70-5F6F-E33EB5596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4522574"/>
            <a:ext cx="3416607" cy="18550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DEE8FA-29F6-EFBB-3764-6FA72F993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839" y="4053018"/>
            <a:ext cx="2063839" cy="243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76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87C283-B96C-29C6-FEF4-3617E2162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2910224"/>
            <a:ext cx="2552700" cy="25809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0C02E2-F204-947A-88E9-5087EBDB4FD3}"/>
              </a:ext>
            </a:extLst>
          </p:cNvPr>
          <p:cNvSpPr txBox="1"/>
          <p:nvPr/>
        </p:nvSpPr>
        <p:spPr>
          <a:xfrm flipH="1">
            <a:off x="942022" y="2540764"/>
            <a:ext cx="207835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Scan for feedback!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8A3952-78F8-1DFE-80AB-69421E1D2D7C}"/>
              </a:ext>
            </a:extLst>
          </p:cNvPr>
          <p:cNvSpPr/>
          <p:nvPr/>
        </p:nvSpPr>
        <p:spPr>
          <a:xfrm>
            <a:off x="438150" y="2447925"/>
            <a:ext cx="3067050" cy="3276600"/>
          </a:xfrm>
          <a:prstGeom prst="roundRect">
            <a:avLst/>
          </a:prstGeom>
          <a:noFill/>
          <a:ln w="76200">
            <a:solidFill>
              <a:srgbClr val="ED1C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91674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12531</TotalTime>
  <Words>1925</Words>
  <Application>Microsoft Macintosh PowerPoint</Application>
  <PresentationFormat>On-screen Show (4:3)</PresentationFormat>
  <Paragraphs>296</Paragraphs>
  <Slides>43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Calibri</vt:lpstr>
      <vt:lpstr>Calibri Light</vt:lpstr>
      <vt:lpstr>Menlo</vt:lpstr>
      <vt:lpstr>Open Sans Light</vt:lpstr>
      <vt:lpstr>Wingdings</vt:lpstr>
      <vt:lpstr>Thème Office</vt:lpstr>
      <vt:lpstr>PowerPoint Presentation</vt:lpstr>
      <vt:lpstr>PowerPoint Presentation</vt:lpstr>
      <vt:lpstr>Workshop Outline</vt:lpstr>
      <vt:lpstr>Pre-requisites</vt:lpstr>
      <vt:lpstr>Module I:  About the Digital Research Alliance of Canada (DRAC)</vt:lpstr>
      <vt:lpstr>About DRAC</vt:lpstr>
      <vt:lpstr>About DRAC</vt:lpstr>
      <vt:lpstr>You and DRAC: An Analogy</vt:lpstr>
      <vt:lpstr>You and DRAC: An Analogy</vt:lpstr>
      <vt:lpstr>DRAC Service Rules</vt:lpstr>
      <vt:lpstr>You and DRAC Analogy Quiz</vt:lpstr>
      <vt:lpstr>Module II:  Preparing Your Data and Code for DRAC</vt:lpstr>
      <vt:lpstr>DRAC Service Rule #1</vt:lpstr>
      <vt:lpstr>Step 1a: Preparing your data and code</vt:lpstr>
      <vt:lpstr>Step 1b: Delivering your data and code (with Globus)</vt:lpstr>
      <vt:lpstr>Demo: Navigating folders with linux commands</vt:lpstr>
      <vt:lpstr>Activity: Get familiar with linux commands</vt:lpstr>
      <vt:lpstr>Demo:  Creating a destination folder on DRAC with Globus</vt:lpstr>
      <vt:lpstr>Activity: Create a destination folder on DRAC with Globus</vt:lpstr>
      <vt:lpstr>Demo: Logging into DRAC</vt:lpstr>
      <vt:lpstr>Activity: Log into DRAC</vt:lpstr>
      <vt:lpstr>Demo:  Delivering files to DRAC with Globus </vt:lpstr>
      <vt:lpstr>Activity: Delivering files to DRAC with Globus </vt:lpstr>
      <vt:lpstr>Activity: Confirm your file transfer to DRAC</vt:lpstr>
      <vt:lpstr>Module III:  Running a Job on DRAC</vt:lpstr>
      <vt:lpstr>DRAC Service Rule #2</vt:lpstr>
      <vt:lpstr>What is slurm?</vt:lpstr>
      <vt:lpstr>How do I submit a job to slurm?</vt:lpstr>
      <vt:lpstr>How do I submit a job to slurm?</vt:lpstr>
      <vt:lpstr>Common slurm Commands</vt:lpstr>
      <vt:lpstr>Common slurm Commands</vt:lpstr>
      <vt:lpstr>Activity: Submit your job to DRAC</vt:lpstr>
      <vt:lpstr>Module IV: Handling Job Errors</vt:lpstr>
      <vt:lpstr>Output and Error Files</vt:lpstr>
      <vt:lpstr>Common Errors and Their Solutions</vt:lpstr>
      <vt:lpstr>General Advice</vt:lpstr>
      <vt:lpstr>DRAC Technical Support</vt:lpstr>
      <vt:lpstr>Activity: Debug your batch script</vt:lpstr>
      <vt:lpstr>Demo: Retrieving your results from DRAC with Globus</vt:lpstr>
      <vt:lpstr>Activity: Retrieve your results from DRAC with Globus</vt:lpstr>
      <vt:lpstr>Summary</vt:lpstr>
      <vt:lpstr>Additional Information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Megan Ng</cp:lastModifiedBy>
  <cp:revision>50</cp:revision>
  <dcterms:created xsi:type="dcterms:W3CDTF">2019-07-29T14:54:16Z</dcterms:created>
  <dcterms:modified xsi:type="dcterms:W3CDTF">2026-09-24T18:18:47Z</dcterms:modified>
</cp:coreProperties>
</file>